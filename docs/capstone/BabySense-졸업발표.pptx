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b88ea7a-a693-8503-fcd4-b2a44c4d1efd}">
          <p14:sldIdLst>
            <p14:sldId id="256"/>
            <p14:sldId id="257"/>
            <p14:sldId id="258"/>
          </p14:sldIdLst>
        </p14:section>
        <p14:section name="기능" id="{ad4231ae-634c-da8d-b6b1-b04bfbbcd639}">
          <p14:sldIdLst>
            <p14:sldId id="259"/>
            <p14:sldId id="260"/>
            <p14:sldId id="261"/>
          </p14:sldIdLst>
        </p14:section>
        <p14:section name="기술" id="{d3a6d780-acfe-c8c4-df67-c1a4650afc02}">
          <p14:sldIdLst>
            <p14:sldId id="262"/>
            <p14:sldId id="263"/>
            <p14:sldId id="264"/>
            <p14:sldId id="265"/>
          </p14:sldIdLst>
        </p14:section>
        <p14:section name="정리" id="{0dc911a3-3eb3-4a6b-f184-f74922ed20a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BabySense 팀 발표자, 4학년 이하늘입니다. 저희 작품은 "영유아 상태 입력 기반 AI 의사결정 지원 플랫폼, BabySense"입니다. 한 줄로 줄이면, 아기의 체온이나 키·몸무게 기록을 받아 보호자가 "지금 병원에 가야 하나?"를 판단하도록 돕는 앱입니다. 팀 구성과 역할, 지도교수님은 화면과 같습니다. 발표 중간중간 실제 실행 화면을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시작은 사전 설문입니다. 영유아 보호자 열 명께 물었습니다. 표본은 작지만, 응답의 방향은 뚜렷했습니다. 열 명 중 일곱 명이, 기준 체온이 몇 도인지 알면서도 병원에 갈지 말지 망설인 적이 있다고 했습니다. 숫자를 몰라서가 아니라, 그 숫자가 우리 아이에게 무슨 뜻인지 확신이 없어서입니다. 판단이 필요한 순간에는 열 명 중 아홉 명이 인터넷을 검색했습니다. 육아 앱을 쓴다는 응답은 한 명뿐이었습니다. 기록 앱은 이미 많은데도요. 그리고 여섯 명이 "판정을 믿으려면 근거를 같이 보여줘야 한다"고 했고, 근거와 함께 판정해 주는 앱이라면 쓰겠다는 응답이 아홉 명이었습니다. 저희 결론은 이렇습니다. 보호자에게 부족한 건 기록이 아니라, 기록의 해석과 그 다음 행동입니다. BabySense는 그 빈칸을 메우는 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설계 원칙부터 정했습니다. 첫째, 판정은 세 단계로만 말합니다. 정상, 주의, 상담 권장. '위험'이라는 단어는 쓰지 않습니다. 겁주는 게 아니라 다음 행동을 알려주는 게 목적이기 때문입니다. 둘째, 역할 분리입니다. 판정은 앱 안의 규칙 엔진이 합니다. 대한소아과학회나 WHO 같은 공인 기준을 코드로 옮긴 것이라, 왜 이 판정이 나왔는지 언제나 추적할 수 있습니다. AI는 설명과 상담만 맡습니다. 서버 프롬프트로 제한하고, 애초에 AI의 응답이 판정 값을 바꿀 경로가 코드에 없습니다. 셋째, 근거가 부족하면 판정하지 않습니다. 어림짐작으로 등급을 내리는 대신 "보류"라고 정직하게 말합니다. 그리고 모든 화면에 "이 앱은 의료기기가 아니며 의사의 진단을 대신하지 않는다"는 고지를 항상 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기능은 상황 하나로 보여드리겠습니다. 새벽 두 시, 생후 2개월 아기가 열이 납니다. 체온을 재니 38.2도입니다. (왼쪽 화면) 보호자가 체온을 입력하면 앱은 "상담 권장"과 함께, "3개월 미만의 발열은 진료가 필요하니 바로 소아청소년과에 문의하세요"라고 말해 줍니다. 체온 기준이 월령에 따라 세 구간으로 다르기 때문입니다. 대한소아과학회 발열 기준을 월령별로 옮긴 것입니다. 판정 대상은 두 가지가 더 있습니다. (오른쪽 화면) 성장은 WHO 성장 표준의 Z-score, 같은 월령 평균에서 얼마나 떨어져 있는지로 판정하고, 수면 소음은 WHO 침실 권고 30데시벨과 신생아실 권장 상한 50데시벨이 기준입니다. 소음은 의료 판단이 아니라 환경 문제라서, '상담'이 아니라 '개선 권장'으로 표현합니다. 보류 원칙도 여기 적용됩니다. 소음 표본이 서른 건 미만이거나 기준표 밖 월령이면 보류하고, 기준이 없는 수유·수면·배변은 판정 없이 기록과 집계만 합니다. 이 판정은 전부 앱 안에서 동작해서, 외부 서버 없이 야간·휴일에도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새벽 상황을 이어가겠습니다. (왼쪽 화면) 보호자는 이 열에 대해 AI 상담에 묻습니다. 그냥 챗봇이 아니라, 아이의 월령과 성별, 방금 그 체온 기록까지 맥락으로 함께 전달됩니다. 그래서 "우리 아이" 기준의 답이 나옵니다. 진단명·약품명 언급과 판정 변경은 제한됩니다. (오른쪽 화면) 발진이 보이면 피부 살펴보기로 사진을 찍습니다. AI는 관찰되는 특징과 상담 필요 여부만 말하고, 병명은 말하지 않도록 제한했습니다. 디테일 하나 — 사진과 함께 최근 12시간의 발열 여부를 같이 보냅니다. 열은 사진에 찍히지 않기 때문입니다. 사진은 판독에만 쓰고 저장하지 않습니다. 아이 사진이라서, 처음부터 그렇게 정했습니다. 왜 분류 모델을 쓰지 않았는지는 잠시 뒤에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 외의 일상 기록도 있습니다. 수유, 수면, 배변, 투약, 예방접종을 기록하고, (왼쪽 화면) 하루를 한 바퀴로 보여주는 24시간 원형 도표와 7일 추이·하루 평균으로 흐름을 봅니다. (오른쪽 화면) 그리고 함께 키우기입니다. 여덟 자리 초대 코드로 배우자나 조부모님과 기록을 공유하고, 예방접종 시기와 수유 시간 알림도 보냅니다. 아까 그 새벽의 발열 기록도, 아침에 일어난 배우자가 그대로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네 계층입니다. 클라이언트는 Flutter로 iOS와 Android를 한 코드로 지원하고, 카카오·구글 간편 로그인을 붙였습니다. 단순 기록은 데이터베이스에 바로 저장합니다. 애플리케이션 계층은 FastAPI 백엔드인데, AI 상담과 피부 판독 두 요청만 여기를 거칩니다. 인증과 호출 상한, API 키 보호를 맡고 EC2에 실배포되어 있습니다. 분석 계층은 앱 내부 규칙 엔진과 외부 LLM 모듈, 데이터는 Supabase PostgreSQL — 자기 데이터만 보게 하는 행 수준 보안을 걸었고, 알림은 Firebase입니다. 계층별 담당은 그림과 같고, 저는 FastAPI와 LLM을 맡았습니다. (주의: 테이블 개수는 먼저 말하지 않기 — 질문 시 "인쇄 후 1개 추가, 현재 20개")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기술적으로 가장 큰 결정이었던 이야기 — 피부 판독에서 CNN, 이미지 분류 신경망을 버린 이유입니다. 처음에는 저희도 MobileNetV2로 피부 분류를 했습니다. 공개 피부 데이터 삼천사백칠십일 장으로 전이학습했는데, 자체 검증에서 문제가 드러났습니다. 학습 데이터 중 영유아의 '정상' 피부는 삼백십삼 장뿐, 대부분 성인 피부였습니다. 영유아 질환 사진 서른두 장 중 열 장, 31퍼센트를 '정상'으로 오판했고, 오판의 평균 신뢰도가 94퍼센트였습니다. 틀리면서, 확신에 차서 틀린 겁니다. 더 결정적인 건 구조였습니다. 피부도 아닌 무작위 노이즈를 91퍼센트, 체커보드 무늬를 92퍼센트 신뢰도로 분류했습니다. 이 방식에는 "모르겠다"는 답이 아예 없는 겁니다. 전처리를 네 가지로 바꿔도 오판이 17에서 40퍼센트였으니, 표본이 아니라 데이터와 구조의 문제였습니다. 틀릴 때 확신하는 분류기는, 보호자의 불안을 덜어준다는 이 앱의 목적과 정반대입니다. 그래서 CNN을 제거했습니다. 대신 LLM 비전이 병명 없이 관찰 특징과 단계만 말하게 하고, 마지막은 코드가 잠급니다. 3개월 미만 아기에게 발열이 있으면, AI가 뭐라고 했든 무조건 '즉시 진료'로 올립니다. LLM 쪽의 정량 평가는 아직 남은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도전은 질문 하나로 요약됩니다. 새벽 세 시에 외부 LLM 서비스가 중단되면, 이 앱은 어떻게 될까요? 답은 이렇습니다. 판정, 기록, 공유, 알림은 전부 그대로 동작하고, AI 상담만 잠시 닫힙니다. 판정이 앱 내부 규칙이기 때문입니다. 그 순간을 위해 서버에 세 겹의 보호를 넣었습니다. 첫째, 타임아웃입니다. 연결 5초, 응답 30초, 사진 판독은 60초를 넘으면 끊습니다. 둘째, 재시도 0회입니다. 이미 장애가 난 서비스에 재시도를 퍼부으면 장애를 키우기 때문에 일부러 뺐습니다. 셋째, 서킷 브레이커입니다. 집의 두꺼비집처럼, 최근 1분간 호출이 열 건 이상이면서 오류율이 50퍼센트를 넘으면 회로를 열어 호출을 멈추고, 60초 뒤에 딱 한 건만 보내서 복구를 확인합니다. 열려 있는 동안 사용자에게는 영문 에러가 아니라 한국어 안내가 1초 안에 나갑니다. 여기에 호출 상한과 업로드 4메가 제한까지, 하나의 장애가 전체를 무너뜨리지 못하게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품질 수치입니다. 자동 테스트는 총 팔백칠십구 건, Flutter가 칠백사십구 건, 서버가 백삼십 건이고, 정적 분석 경고는 0건입니다. 숫자보다 습관을 하나 말씀드리면, 변이 테스트에서 착안해서, 버그를 고칠 때마다 고친 코드를 일부러 되돌려 테스트가 정말로 깨지는지 확인했습니다. 그리고 "실패를 안심으로 읽히지 않게"가 원칙입니다. 조회가 실패한 것과 기록이 없는 것을 화면에서 구분하고, 피부 판독이 실패하면 "확인하지 못했다는 것은 괜찮다는 뜻이 아닙니다"라고 분명히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정직하게 말씀드리겠습니다. 첫째, 설문 표본이 열 명이라 통계적 일반화보다는 방향 확인용입니다. 둘째, 판정 범위가 체온·성장·소음 세 종류입니다. 수유·수면·배변은 공인 기준이 없어서 판정 없이 기록만 합니다. 셋째, 의료 전문가의 직접 감수 대신 공인 지침 인용으로 갈음했기 때문에, 임상적으로 검증된 것은 아닙니다. 기술적으로는 서버가 현재 한 대라서, 수평 확장을 하려면 호출 상한과 서킷 브레이커 상태를 공유하는 저장소가 필요합니다. 판정 범위 확대와 전문가 감수가 다음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BabySense는 기록이 아니라 해석과 행동을 돕는 앱입니다. 판정은 추적 가능한 규칙이 하고, AI는 설명만 하고, 모르면 모른다고 말합니다. 현재 iOS와 Android 실기기에서 동작하고 있고, 이 내용으로 한국디지털콘텐츠학회 논문 투고를 준비하고 있습니다. 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7374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5EE"/>
        </a:solidFill>
      </p:bgPr>
    </p:bg>
    <p:spTree>
      <p:nvGrpSpPr>
        <p:cNvPr id="1" name=""/>
        <p:cNvGrpSpPr/>
        <p:nvPr/>
      </p:nvGrpSpPr>
      <p:grpSpPr>
        <a:xfrm>
          <a:off x="0" y="0"/>
          <a:ext cx="0" cy="0"/>
          <a:chOff x="0" y="0"/>
          <a:chExt cx="0" cy="0"/>
        </a:xfrm>
      </p:grpSpPr>
      <p:sp>
        <p:nvSpPr>
          <p:cNvPr id="2" name="Text 0"/>
          <p:cNvSpPr txBox="1"/>
          <p:nvPr/>
        </p:nvSpPr>
        <p:spPr>
          <a:xfrm>
            <a:off x="822960" y="6455664"/>
            <a:ext cx="8686800" cy="274320"/>
          </a:xfrm>
          <a:prstGeom prst="rect">
            <a:avLst/>
          </a:prstGeom>
          <a:noFill/>
          <a:ln/>
        </p:spPr>
        <p:txBody>
          <a:bodyPr wrap="square" lIns="0" tIns="0" rIns="0" bIns="0" rtlCol="0" anchor="ctr"/>
          <a:lstStyle/>
          <a:p>
            <a:pPr indent="0" marL="0">
              <a:buNone/>
            </a:pPr>
            <a:r>
              <a:rPr lang="en-US" sz="850" dirty="0">
                <a:solidFill>
                  <a:srgbClr val="5C6B7A"/>
                </a:solidFill>
              </a:rPr>
              <a:t>BabySense — 동양미래대학교 웹응용소프트웨어공학과 2026 졸업작품</a:t>
            </a:r>
            <a:endParaRPr lang="en-US" sz="850" dirty="0"/>
          </a:p>
        </p:txBody>
      </p:sp>
      <p:sp>
        <p:nvSpPr>
          <p:cNvPr id="3" name="Text 1"/>
          <p:cNvSpPr/>
          <p:nvPr>
            <p:ph idx="101" type="body" hasCustomPrompt="1"/>
          </p:nvPr>
        </p:nvSpPr>
        <p:spPr>
          <a:xfrm>
            <a:off x="841248" y="310896"/>
            <a:ext cx="9601200" cy="310896"/>
          </a:xfrm>
          <a:prstGeom prst="rect">
            <a:avLst/>
          </a:prstGeom>
          <a:noFill/>
          <a:ln/>
        </p:spPr>
        <p:txBody>
          <a:bodyPr wrap="square" rtlCol="0"/>
          <a:lstStyle>
            <a:lvl1pPr indent="0" marL="0">
              <a:buNone/>
              <a:defRPr lang="en-US" sz="1200" b="1" spc="200" kern="0" dirty="0">
                <a:solidFill>
                  <a:srgbClr val="E96A50"/>
                </a:solidFill>
              </a:defRPr>
            </a:lvl1pPr>
          </a:lstStyle>
          <a:p>
            <a:pPr indent="0" marL="0">
              <a:buNone/>
            </a:pPr>
            <a:endParaRPr lang="en-US" sz="1200" dirty="0"/>
          </a:p>
        </p:txBody>
      </p:sp>
      <p:sp>
        <p:nvSpPr>
          <p:cNvPr id="4" name="Text 1"/>
          <p:cNvSpPr/>
          <p:nvPr>
            <p:ph idx="102" type="title" hasCustomPrompt="1"/>
          </p:nvPr>
        </p:nvSpPr>
        <p:spPr>
          <a:xfrm>
            <a:off x="822960" y="603504"/>
            <a:ext cx="10561320" cy="713232"/>
          </a:xfrm>
          <a:prstGeom prst="rect">
            <a:avLst/>
          </a:prstGeom>
          <a:noFill/>
          <a:ln/>
        </p:spPr>
        <p:txBody>
          <a:bodyPr wrap="square" rtlCol="0"/>
          <a:lstStyle>
            <a:lvl1pPr indent="0" marL="0">
              <a:buNone/>
              <a:defRPr lang="en-US" sz="2600" b="1" dirty="0">
                <a:solidFill>
                  <a:srgbClr val="27374D"/>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280160" y="3931920"/>
            <a:ext cx="4754880" cy="4754880"/>
          </a:xfrm>
          <a:prstGeom prst="ellipse">
            <a:avLst/>
          </a:prstGeom>
          <a:solidFill>
            <a:srgbClr val="E96A50">
              <a:alpha val="18000"/>
            </a:srgbClr>
          </a:solidFill>
          <a:ln w="12700">
            <a:solidFill>
              <a:srgbClr val="E96A50"/>
            </a:solidFill>
            <a:prstDash val="solid"/>
          </a:ln>
        </p:spPr>
      </p:sp>
      <p:sp>
        <p:nvSpPr>
          <p:cNvPr id="3" name="Shape 1"/>
          <p:cNvSpPr/>
          <p:nvPr/>
        </p:nvSpPr>
        <p:spPr>
          <a:xfrm>
            <a:off x="10241280" y="-1645920"/>
            <a:ext cx="4206240" cy="4206240"/>
          </a:xfrm>
          <a:prstGeom prst="ellipse">
            <a:avLst/>
          </a:prstGeom>
          <a:solidFill>
            <a:srgbClr val="8FAE9B">
              <a:alpha val="20000"/>
            </a:srgbClr>
          </a:solidFill>
          <a:ln w="12700">
            <a:solidFill>
              <a:srgbClr val="8FAE9B"/>
            </a:solidFill>
            <a:prstDash val="solid"/>
          </a:ln>
        </p:spPr>
      </p:sp>
      <p:sp>
        <p:nvSpPr>
          <p:cNvPr id="4" name="Text 2"/>
          <p:cNvSpPr txBox="1"/>
          <p:nvPr/>
        </p:nvSpPr>
        <p:spPr>
          <a:xfrm>
            <a:off x="868680" y="731520"/>
            <a:ext cx="9601200" cy="320040"/>
          </a:xfrm>
          <a:prstGeom prst="rect">
            <a:avLst/>
          </a:prstGeom>
          <a:noFill/>
          <a:ln/>
        </p:spPr>
        <p:txBody>
          <a:bodyPr wrap="square" lIns="0" tIns="0" rIns="0" bIns="0" rtlCol="0" anchor="ctr"/>
          <a:lstStyle/>
          <a:p>
            <a:pPr indent="0" marL="0">
              <a:buNone/>
            </a:pPr>
            <a:r>
              <a:rPr lang="en-US" sz="1200" dirty="0">
                <a:solidFill>
                  <a:srgbClr val="DCE4EC"/>
                </a:solidFill>
              </a:rPr>
              <a:t>2026 동양미래대학교 컴퓨터공학부 웹응용소프트웨어공학과 졸업작품</a:t>
            </a:r>
            <a:endParaRPr lang="en-US" sz="1200" dirty="0"/>
          </a:p>
        </p:txBody>
      </p:sp>
      <p:sp>
        <p:nvSpPr>
          <p:cNvPr id="5" name="Text 3"/>
          <p:cNvSpPr txBox="1"/>
          <p:nvPr/>
        </p:nvSpPr>
        <p:spPr>
          <a:xfrm>
            <a:off x="868680" y="1828800"/>
            <a:ext cx="8229600" cy="411480"/>
          </a:xfrm>
          <a:prstGeom prst="rect">
            <a:avLst/>
          </a:prstGeom>
          <a:noFill/>
          <a:ln/>
        </p:spPr>
        <p:txBody>
          <a:bodyPr wrap="square" lIns="0" tIns="0" rIns="0" bIns="0" rtlCol="0" anchor="ctr"/>
          <a:lstStyle/>
          <a:p>
            <a:pPr indent="0" marL="0">
              <a:buNone/>
            </a:pPr>
            <a:r>
              <a:rPr lang="en-US" sz="1600" b="1" dirty="0">
                <a:solidFill>
                  <a:srgbClr val="FFB3A0"/>
                </a:solidFill>
              </a:rPr>
              <a:t>영유아 상태 입력 기반 AI 의사결정 지원 플랫폼</a:t>
            </a:r>
            <a:endParaRPr lang="en-US" sz="1600" dirty="0"/>
          </a:p>
        </p:txBody>
      </p:sp>
      <p:sp>
        <p:nvSpPr>
          <p:cNvPr id="6" name="Text 4"/>
          <p:cNvSpPr txBox="1"/>
          <p:nvPr/>
        </p:nvSpPr>
        <p:spPr>
          <a:xfrm>
            <a:off x="822960" y="2212848"/>
            <a:ext cx="8229600" cy="1051560"/>
          </a:xfrm>
          <a:prstGeom prst="rect">
            <a:avLst/>
          </a:prstGeom>
          <a:noFill/>
          <a:ln/>
        </p:spPr>
        <p:txBody>
          <a:bodyPr wrap="square" lIns="0" tIns="0" rIns="0" bIns="0" rtlCol="0" anchor="ctr"/>
          <a:lstStyle/>
          <a:p>
            <a:pPr indent="0" marL="0">
              <a:buNone/>
            </a:pPr>
            <a:r>
              <a:rPr lang="en-US" sz="6000" b="1" dirty="0">
                <a:solidFill>
                  <a:srgbClr val="FFFFFF"/>
                </a:solidFill>
              </a:rPr>
              <a:t>BabySense</a:t>
            </a:r>
            <a:endParaRPr lang="en-US" sz="6000" dirty="0"/>
          </a:p>
        </p:txBody>
      </p:sp>
      <p:sp>
        <p:nvSpPr>
          <p:cNvPr id="7" name="Text 5"/>
          <p:cNvSpPr txBox="1"/>
          <p:nvPr/>
        </p:nvSpPr>
        <p:spPr>
          <a:xfrm>
            <a:off x="868680" y="3364992"/>
            <a:ext cx="8229600" cy="411480"/>
          </a:xfrm>
          <a:prstGeom prst="rect">
            <a:avLst/>
          </a:prstGeom>
          <a:noFill/>
          <a:ln/>
        </p:spPr>
        <p:txBody>
          <a:bodyPr wrap="square" lIns="0" tIns="0" rIns="0" bIns="0" rtlCol="0" anchor="ctr"/>
          <a:lstStyle/>
          <a:p>
            <a:pPr indent="0" marL="0">
              <a:buNone/>
            </a:pPr>
            <a:r>
              <a:rPr lang="en-US" sz="1700" dirty="0">
                <a:solidFill>
                  <a:srgbClr val="DCE4EC"/>
                </a:solidFill>
              </a:rPr>
              <a:t>기록이 아니라, 해석과 다음 행동을 돕습니다</a:t>
            </a:r>
            <a:endParaRPr lang="en-US" sz="1700" dirty="0"/>
          </a:p>
        </p:txBody>
      </p:sp>
      <p:sp>
        <p:nvSpPr>
          <p:cNvPr id="8" name="Shape 6"/>
          <p:cNvSpPr/>
          <p:nvPr/>
        </p:nvSpPr>
        <p:spPr>
          <a:xfrm>
            <a:off x="896112" y="4160520"/>
            <a:ext cx="2011680" cy="0"/>
          </a:xfrm>
          <a:prstGeom prst="line">
            <a:avLst/>
          </a:prstGeom>
          <a:noFill/>
          <a:ln w="25400">
            <a:solidFill>
              <a:srgbClr val="E96A50"/>
            </a:solidFill>
            <a:prstDash val="solid"/>
          </a:ln>
        </p:spPr>
      </p:sp>
      <p:sp>
        <p:nvSpPr>
          <p:cNvPr id="9" name="Text 7"/>
          <p:cNvSpPr txBox="1"/>
          <p:nvPr/>
        </p:nvSpPr>
        <p:spPr>
          <a:xfrm>
            <a:off x="868680" y="4389120"/>
            <a:ext cx="7863840" cy="1371600"/>
          </a:xfrm>
          <a:prstGeom prst="rect">
            <a:avLst/>
          </a:prstGeom>
          <a:noFill/>
          <a:ln/>
        </p:spPr>
        <p:txBody>
          <a:bodyPr wrap="square" lIns="0" tIns="0" rIns="0" bIns="0" rtlCol="0" anchor="ctr"/>
          <a:lstStyle/>
          <a:p>
            <a:pPr indent="0" marL="0">
              <a:lnSpc>
                <a:spcPct val="145000"/>
              </a:lnSpc>
              <a:buNone/>
            </a:pPr>
            <a:r>
              <a:rPr lang="en-US" sz="1250" dirty="0">
                <a:solidFill>
                  <a:srgbClr val="DCE4EC"/>
                </a:solidFill>
              </a:rPr>
              <a:t>이하늘 — Backend·LLM (발표)      이유석 — AI 모델·DB</a:t>
            </a:r>
            <a:endParaRPr lang="en-US" sz="1250" dirty="0"/>
          </a:p>
          <a:p>
            <a:pPr indent="0" marL="0">
              <a:lnSpc>
                <a:spcPct val="145000"/>
              </a:lnSpc>
              <a:buNone/>
            </a:pPr>
            <a:r>
              <a:rPr lang="en-US" sz="1250" dirty="0">
                <a:solidFill>
                  <a:srgbClr val="DCE4EC"/>
                </a:solidFill>
              </a:rPr>
              <a:t>유승환 — Flutter 앱      박시은 — UI/UX 디자인</a:t>
            </a:r>
            <a:endParaRPr lang="en-US" sz="1250" dirty="0"/>
          </a:p>
          <a:p>
            <a:pPr indent="0" marL="0">
              <a:lnSpc>
                <a:spcPct val="145000"/>
              </a:lnSpc>
              <a:buNone/>
            </a:pPr>
            <a:r>
              <a:rPr lang="en-US" sz="1250" dirty="0">
                <a:solidFill>
                  <a:srgbClr val="DCE4EC"/>
                </a:solidFill>
              </a:rPr>
              <a:t>지도교수  오나예</a:t>
            </a:r>
            <a:endParaRPr lang="en-US" sz="1250" dirty="0"/>
          </a:p>
        </p:txBody>
      </p:sp>
      <p:sp>
        <p:nvSpPr>
          <p:cNvPr id="10" name="Shape 8"/>
          <p:cNvSpPr/>
          <p:nvPr/>
        </p:nvSpPr>
        <p:spPr>
          <a:xfrm>
            <a:off x="9464040" y="1325880"/>
            <a:ext cx="1920240" cy="4169664"/>
          </a:xfrm>
          <a:prstGeom prst="roundRect">
            <a:avLst>
              <a:gd name="adj" fmla="val 4762"/>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1" name="Shape 9"/>
          <p:cNvSpPr/>
          <p:nvPr/>
        </p:nvSpPr>
        <p:spPr>
          <a:xfrm>
            <a:off x="9528048" y="1389888"/>
            <a:ext cx="1792224" cy="4041648"/>
          </a:xfrm>
          <a:prstGeom prst="roundRect">
            <a:avLst>
              <a:gd name="adj" fmla="val 3061"/>
            </a:avLst>
          </a:prstGeom>
          <a:solidFill>
            <a:srgbClr val="FBF5EE"/>
          </a:solidFill>
          <a:ln w="9525">
            <a:solidFill>
              <a:srgbClr val="5C6B7A"/>
            </a:solidFill>
            <a:prstDash val="dash"/>
          </a:ln>
        </p:spPr>
      </p:sp>
      <p:sp>
        <p:nvSpPr>
          <p:cNvPr id="12" name="Text 10"/>
          <p:cNvSpPr txBox="1"/>
          <p:nvPr/>
        </p:nvSpPr>
        <p:spPr>
          <a:xfrm>
            <a:off x="9555480" y="2862072"/>
            <a:ext cx="173736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01-home.png
</a:t>
            </a:r>
            <a:pPr algn="ctr" indent="0" marL="0">
              <a:buNone/>
            </a:pPr>
            <a:r>
              <a:rPr lang="en-US" sz="850" dirty="0">
                <a:solidFill>
                  <a:srgbClr val="5C6B7A"/>
                </a:solidFill>
              </a:rPr>
              <a:t>홈 화면</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문제</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기록 앱은 많은데, 왜 새벽마다 검색할까</a:t>
            </a:r>
            <a:endParaRPr lang="en-US" sz="2600" dirty="0"/>
          </a:p>
        </p:txBody>
      </p:sp>
      <p:sp>
        <p:nvSpPr>
          <p:cNvPr id="4" name="Shape 2"/>
          <p:cNvSpPr/>
          <p:nvPr/>
        </p:nvSpPr>
        <p:spPr>
          <a:xfrm>
            <a:off x="822960" y="1508760"/>
            <a:ext cx="3246120" cy="2103120"/>
          </a:xfrm>
          <a:prstGeom prst="roundRect">
            <a:avLst>
              <a:gd name="adj" fmla="val 304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Text 3"/>
          <p:cNvSpPr txBox="1"/>
          <p:nvPr/>
        </p:nvSpPr>
        <p:spPr>
          <a:xfrm>
            <a:off x="1005840" y="1691640"/>
            <a:ext cx="2834640" cy="822960"/>
          </a:xfrm>
          <a:prstGeom prst="rect">
            <a:avLst/>
          </a:prstGeom>
          <a:noFill/>
          <a:ln/>
        </p:spPr>
        <p:txBody>
          <a:bodyPr wrap="square" lIns="0" tIns="0" rIns="0" bIns="0" rtlCol="0" anchor="ctr"/>
          <a:lstStyle/>
          <a:p>
            <a:pPr indent="0" marL="0">
              <a:buNone/>
            </a:pPr>
            <a:r>
              <a:rPr lang="en-US" sz="4000" b="1" dirty="0">
                <a:solidFill>
                  <a:srgbClr val="E96A50"/>
                </a:solidFill>
              </a:rPr>
              <a:t>7 / 10</a:t>
            </a:r>
            <a:endParaRPr lang="en-US" sz="4000" dirty="0"/>
          </a:p>
        </p:txBody>
      </p:sp>
      <p:sp>
        <p:nvSpPr>
          <p:cNvPr id="6" name="Text 4"/>
          <p:cNvSpPr txBox="1"/>
          <p:nvPr/>
        </p:nvSpPr>
        <p:spPr>
          <a:xfrm>
            <a:off x="1005840" y="2560320"/>
            <a:ext cx="2926080" cy="868680"/>
          </a:xfrm>
          <a:prstGeom prst="rect">
            <a:avLst/>
          </a:prstGeom>
          <a:noFill/>
          <a:ln/>
        </p:spPr>
        <p:txBody>
          <a:bodyPr wrap="square" lIns="0" tIns="0" rIns="0" bIns="0" rtlCol="0" anchor="ctr"/>
          <a:lstStyle/>
          <a:p>
            <a:pPr indent="0" marL="0">
              <a:buNone/>
            </a:pPr>
            <a:r>
              <a:rPr lang="en-US" sz="1250" dirty="0">
                <a:solidFill>
                  <a:srgbClr val="27374D"/>
                </a:solidFill>
              </a:rPr>
              <a:t>기준 체온을 알면서도</a:t>
            </a:r>
            <a:endParaRPr lang="en-US" sz="1250" dirty="0"/>
          </a:p>
          <a:p>
            <a:pPr indent="0" marL="0">
              <a:buNone/>
            </a:pPr>
            <a:r>
              <a:rPr lang="en-US" sz="1250" dirty="0">
                <a:solidFill>
                  <a:srgbClr val="27374D"/>
                </a:solidFill>
              </a:rPr>
              <a:t>병원에 갈지 망설인 적 있음</a:t>
            </a:r>
            <a:endParaRPr lang="en-US" sz="1250" dirty="0"/>
          </a:p>
        </p:txBody>
      </p:sp>
      <p:sp>
        <p:nvSpPr>
          <p:cNvPr id="7" name="Shape 5"/>
          <p:cNvSpPr/>
          <p:nvPr/>
        </p:nvSpPr>
        <p:spPr>
          <a:xfrm>
            <a:off x="4251960" y="1508760"/>
            <a:ext cx="3246120" cy="2103120"/>
          </a:xfrm>
          <a:prstGeom prst="roundRect">
            <a:avLst>
              <a:gd name="adj" fmla="val 304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8" name="Text 6"/>
          <p:cNvSpPr txBox="1"/>
          <p:nvPr/>
        </p:nvSpPr>
        <p:spPr>
          <a:xfrm>
            <a:off x="4434840" y="1691640"/>
            <a:ext cx="2834640" cy="822960"/>
          </a:xfrm>
          <a:prstGeom prst="rect">
            <a:avLst/>
          </a:prstGeom>
          <a:noFill/>
          <a:ln/>
        </p:spPr>
        <p:txBody>
          <a:bodyPr wrap="square" lIns="0" tIns="0" rIns="0" bIns="0" rtlCol="0" anchor="ctr"/>
          <a:lstStyle/>
          <a:p>
            <a:pPr indent="0" marL="0">
              <a:buNone/>
            </a:pPr>
            <a:r>
              <a:rPr lang="en-US" sz="4000" b="1" dirty="0">
                <a:solidFill>
                  <a:srgbClr val="E96A50"/>
                </a:solidFill>
              </a:rPr>
              <a:t>9 / 10</a:t>
            </a:r>
            <a:endParaRPr lang="en-US" sz="4000" dirty="0"/>
          </a:p>
        </p:txBody>
      </p:sp>
      <p:sp>
        <p:nvSpPr>
          <p:cNvPr id="9" name="Text 7"/>
          <p:cNvSpPr txBox="1"/>
          <p:nvPr/>
        </p:nvSpPr>
        <p:spPr>
          <a:xfrm>
            <a:off x="4434840" y="2560320"/>
            <a:ext cx="2926080" cy="868680"/>
          </a:xfrm>
          <a:prstGeom prst="rect">
            <a:avLst/>
          </a:prstGeom>
          <a:noFill/>
          <a:ln/>
        </p:spPr>
        <p:txBody>
          <a:bodyPr wrap="square" lIns="0" tIns="0" rIns="0" bIns="0" rtlCol="0" anchor="ctr"/>
          <a:lstStyle/>
          <a:p>
            <a:pPr indent="0" marL="0">
              <a:buNone/>
            </a:pPr>
            <a:r>
              <a:rPr lang="en-US" sz="1250" dirty="0">
                <a:solidFill>
                  <a:srgbClr val="27374D"/>
                </a:solidFill>
              </a:rPr>
              <a:t>근거와 함께 판정해 주는</a:t>
            </a:r>
            <a:endParaRPr lang="en-US" sz="1250" dirty="0"/>
          </a:p>
          <a:p>
            <a:pPr indent="0" marL="0">
              <a:buNone/>
            </a:pPr>
            <a:r>
              <a:rPr lang="en-US" sz="1250" dirty="0">
                <a:solidFill>
                  <a:srgbClr val="27374D"/>
                </a:solidFill>
              </a:rPr>
              <a:t>앱이라면 쓰겠다</a:t>
            </a:r>
            <a:endParaRPr lang="en-US" sz="1250" dirty="0"/>
          </a:p>
        </p:txBody>
      </p:sp>
      <p:sp>
        <p:nvSpPr>
          <p:cNvPr id="10" name="Shape 8"/>
          <p:cNvSpPr/>
          <p:nvPr/>
        </p:nvSpPr>
        <p:spPr>
          <a:xfrm>
            <a:off x="822960" y="3840480"/>
            <a:ext cx="3246120" cy="1051560"/>
          </a:xfrm>
          <a:prstGeom prst="roundRect">
            <a:avLst>
              <a:gd name="adj" fmla="val 6087"/>
            </a:avLst>
          </a:prstGeom>
          <a:solidFill>
            <a:srgbClr val="FFFFFF"/>
          </a:solidFill>
          <a:ln w="9525">
            <a:solidFill>
              <a:srgbClr val="E3D7C8"/>
            </a:solidFill>
            <a:prstDash val="solid"/>
          </a:ln>
        </p:spPr>
      </p:sp>
      <p:sp>
        <p:nvSpPr>
          <p:cNvPr id="11" name="Text 9"/>
          <p:cNvSpPr txBox="1"/>
          <p:nvPr/>
        </p:nvSpPr>
        <p:spPr>
          <a:xfrm>
            <a:off x="960120" y="3950208"/>
            <a:ext cx="3017520" cy="868680"/>
          </a:xfrm>
          <a:prstGeom prst="rect">
            <a:avLst/>
          </a:prstGeom>
          <a:noFill/>
          <a:ln/>
        </p:spPr>
        <p:txBody>
          <a:bodyPr wrap="square" lIns="0" tIns="0" rIns="0" bIns="0" rtlCol="0" anchor="ctr"/>
          <a:lstStyle/>
          <a:p>
            <a:pPr indent="0" marL="0">
              <a:buNone/>
            </a:pPr>
            <a:r>
              <a:rPr lang="en-US" sz="1100" b="1" dirty="0">
                <a:solidFill>
                  <a:srgbClr val="27374D"/>
                </a:solidFill>
              </a:rPr>
              <a:t>9/10 </a:t>
            </a:r>
            <a:pPr indent="0" marL="0">
              <a:buNone/>
            </a:pPr>
            <a:r>
              <a:rPr lang="en-US" sz="1100" dirty="0">
                <a:solidFill>
                  <a:srgbClr val="5C6B7A"/>
                </a:solidFill>
              </a:rPr>
              <a:t>판단이 필요할 때 인터넷 검색 — 육아 앱 이용은 1명뿐</a:t>
            </a:r>
            <a:endParaRPr lang="en-US" sz="1100" dirty="0"/>
          </a:p>
        </p:txBody>
      </p:sp>
      <p:sp>
        <p:nvSpPr>
          <p:cNvPr id="12" name="Shape 10"/>
          <p:cNvSpPr/>
          <p:nvPr/>
        </p:nvSpPr>
        <p:spPr>
          <a:xfrm>
            <a:off x="4251960" y="3840480"/>
            <a:ext cx="3246120" cy="1051560"/>
          </a:xfrm>
          <a:prstGeom prst="roundRect">
            <a:avLst>
              <a:gd name="adj" fmla="val 6087"/>
            </a:avLst>
          </a:prstGeom>
          <a:solidFill>
            <a:srgbClr val="FFFFFF"/>
          </a:solidFill>
          <a:ln w="9525">
            <a:solidFill>
              <a:srgbClr val="E3D7C8"/>
            </a:solidFill>
            <a:prstDash val="solid"/>
          </a:ln>
        </p:spPr>
      </p:sp>
      <p:sp>
        <p:nvSpPr>
          <p:cNvPr id="13" name="Text 11"/>
          <p:cNvSpPr txBox="1"/>
          <p:nvPr/>
        </p:nvSpPr>
        <p:spPr>
          <a:xfrm>
            <a:off x="4389120" y="3950208"/>
            <a:ext cx="3017520" cy="868680"/>
          </a:xfrm>
          <a:prstGeom prst="rect">
            <a:avLst/>
          </a:prstGeom>
          <a:noFill/>
          <a:ln/>
        </p:spPr>
        <p:txBody>
          <a:bodyPr wrap="square" lIns="0" tIns="0" rIns="0" bIns="0" rtlCol="0" anchor="ctr"/>
          <a:lstStyle/>
          <a:p>
            <a:pPr indent="0" marL="0">
              <a:buNone/>
            </a:pPr>
            <a:r>
              <a:rPr lang="en-US" sz="1100" b="1" dirty="0">
                <a:solidFill>
                  <a:srgbClr val="27374D"/>
                </a:solidFill>
              </a:rPr>
              <a:t>6/10 </a:t>
            </a:r>
            <a:pPr indent="0" marL="0">
              <a:buNone/>
            </a:pPr>
            <a:r>
              <a:rPr lang="en-US" sz="1100" dirty="0">
                <a:solidFill>
                  <a:srgbClr val="5C6B7A"/>
                </a:solidFill>
              </a:rPr>
              <a:t>판정을 믿을 조건으로 '근거 제시'를 꼽음</a:t>
            </a:r>
            <a:endParaRPr lang="en-US" sz="1100" dirty="0"/>
          </a:p>
        </p:txBody>
      </p:sp>
      <p:sp>
        <p:nvSpPr>
          <p:cNvPr id="14" name="Text 12"/>
          <p:cNvSpPr txBox="1"/>
          <p:nvPr/>
        </p:nvSpPr>
        <p:spPr>
          <a:xfrm>
            <a:off x="841248" y="5120640"/>
            <a:ext cx="6675120" cy="292608"/>
          </a:xfrm>
          <a:prstGeom prst="rect">
            <a:avLst/>
          </a:prstGeom>
          <a:noFill/>
          <a:ln/>
        </p:spPr>
        <p:txBody>
          <a:bodyPr wrap="square" lIns="0" tIns="0" rIns="0" bIns="0" rtlCol="0" anchor="ctr"/>
          <a:lstStyle/>
          <a:p>
            <a:pPr indent="0" marL="0">
              <a:buNone/>
            </a:pPr>
            <a:r>
              <a:rPr lang="en-US" sz="1000" i="1" dirty="0">
                <a:solidFill>
                  <a:srgbClr val="5C6B7A"/>
                </a:solidFill>
              </a:rPr>
              <a:t>영유아 보호자 10명 사전 설문 · 방향 확인용(n=10)</a:t>
            </a:r>
            <a:endParaRPr lang="en-US" sz="1000" dirty="0"/>
          </a:p>
        </p:txBody>
      </p:sp>
      <p:sp>
        <p:nvSpPr>
          <p:cNvPr id="15" name="Shape 13"/>
          <p:cNvSpPr/>
          <p:nvPr/>
        </p:nvSpPr>
        <p:spPr>
          <a:xfrm>
            <a:off x="7863840" y="1508760"/>
            <a:ext cx="3520440" cy="4343400"/>
          </a:xfrm>
          <a:prstGeom prst="roundRect">
            <a:avLst>
              <a:gd name="adj" fmla="val 1818"/>
            </a:avLst>
          </a:prstGeom>
          <a:solidFill>
            <a:srgbClr val="27374D"/>
          </a:solidFill>
          <a:ln w="12700">
            <a:solidFill>
              <a:srgbClr val="27374D"/>
            </a:solidFill>
            <a:prstDash val="solid"/>
          </a:ln>
          <a:effectLst>
            <a:outerShdw sx="100000" sy="100000" kx="0" ky="0" algn="bl" rotWithShape="0" blurRad="76200" dist="19050" dir="5400000">
              <a:srgbClr val="27374D">
                <a:alpha val="12000"/>
              </a:srgbClr>
            </a:outerShdw>
          </a:effectLst>
        </p:spPr>
      </p:sp>
      <p:sp>
        <p:nvSpPr>
          <p:cNvPr id="16" name="Text 14"/>
          <p:cNvSpPr txBox="1"/>
          <p:nvPr/>
        </p:nvSpPr>
        <p:spPr>
          <a:xfrm>
            <a:off x="8183880" y="1965960"/>
            <a:ext cx="2926080" cy="365760"/>
          </a:xfrm>
          <a:prstGeom prst="rect">
            <a:avLst/>
          </a:prstGeom>
          <a:noFill/>
          <a:ln/>
        </p:spPr>
        <p:txBody>
          <a:bodyPr wrap="square" lIns="0" tIns="0" rIns="0" bIns="0" rtlCol="0" anchor="ctr"/>
          <a:lstStyle/>
          <a:p>
            <a:pPr indent="0" marL="0">
              <a:buNone/>
            </a:pPr>
            <a:r>
              <a:rPr lang="en-US" sz="1300" dirty="0">
                <a:solidFill>
                  <a:srgbClr val="DCE4EC"/>
                </a:solidFill>
              </a:rPr>
              <a:t>보호자에게 부족한 것은</a:t>
            </a:r>
            <a:endParaRPr lang="en-US" sz="1300" dirty="0"/>
          </a:p>
        </p:txBody>
      </p:sp>
      <p:sp>
        <p:nvSpPr>
          <p:cNvPr id="17" name="Text 15"/>
          <p:cNvSpPr txBox="1"/>
          <p:nvPr/>
        </p:nvSpPr>
        <p:spPr>
          <a:xfrm>
            <a:off x="8183880" y="2377440"/>
            <a:ext cx="2926080" cy="1920240"/>
          </a:xfrm>
          <a:prstGeom prst="rect">
            <a:avLst/>
          </a:prstGeom>
          <a:noFill/>
          <a:ln/>
        </p:spPr>
        <p:txBody>
          <a:bodyPr wrap="square" lIns="0" tIns="0" rIns="0" bIns="0" rtlCol="0" anchor="ctr"/>
          <a:lstStyle/>
          <a:p>
            <a:pPr indent="0" marL="0">
              <a:lnSpc>
                <a:spcPct val="115000"/>
              </a:lnSpc>
              <a:buNone/>
            </a:pPr>
            <a:r>
              <a:rPr lang="en-US" sz="2400" b="1" dirty="0">
                <a:solidFill>
                  <a:srgbClr val="FFB3A0"/>
                </a:solidFill>
              </a:rPr>
              <a:t>기록이 아니라,</a:t>
            </a:r>
            <a:endParaRPr lang="en-US" sz="2400" dirty="0"/>
          </a:p>
          <a:p>
            <a:pPr indent="0" marL="0">
              <a:lnSpc>
                <a:spcPct val="115000"/>
              </a:lnSpc>
              <a:buNone/>
            </a:pPr>
            <a:r>
              <a:rPr lang="en-US" sz="2400" b="1" dirty="0">
                <a:solidFill>
                  <a:srgbClr val="FFB3A0"/>
                </a:solidFill>
              </a:rPr>
              <a:t>기록의 해석과</a:t>
            </a:r>
            <a:endParaRPr lang="en-US" sz="2400" dirty="0"/>
          </a:p>
          <a:p>
            <a:pPr indent="0" marL="0">
              <a:lnSpc>
                <a:spcPct val="115000"/>
              </a:lnSpc>
              <a:buNone/>
            </a:pPr>
            <a:r>
              <a:rPr lang="en-US" sz="2400" b="1" dirty="0">
                <a:solidFill>
                  <a:srgbClr val="FFB3A0"/>
                </a:solidFill>
              </a:rPr>
              <a:t>다음 행동</a:t>
            </a:r>
            <a:endParaRPr lang="en-US" sz="2400" dirty="0"/>
          </a:p>
        </p:txBody>
      </p:sp>
      <p:sp>
        <p:nvSpPr>
          <p:cNvPr id="18" name="Text 16"/>
          <p:cNvSpPr txBox="1"/>
          <p:nvPr/>
        </p:nvSpPr>
        <p:spPr>
          <a:xfrm>
            <a:off x="8183880" y="4892040"/>
            <a:ext cx="2926080" cy="640080"/>
          </a:xfrm>
          <a:prstGeom prst="rect">
            <a:avLst/>
          </a:prstGeom>
          <a:noFill/>
          <a:ln/>
        </p:spPr>
        <p:txBody>
          <a:bodyPr wrap="square" lIns="0" tIns="0" rIns="0" bIns="0" rtlCol="0" anchor="ctr"/>
          <a:lstStyle/>
          <a:p>
            <a:pPr indent="0" marL="0">
              <a:buNone/>
            </a:pPr>
            <a:r>
              <a:rPr lang="en-US" sz="1200" dirty="0">
                <a:solidFill>
                  <a:srgbClr val="FFFFFF"/>
                </a:solidFill>
              </a:rPr>
              <a:t>BabySense는 그 빈칸을 메우는 앱입니다</a:t>
            </a:r>
            <a:endParaRPr lang="en-US" sz="12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접근 — 설계 원칙</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판정은 규칙이, AI는 설명만</a:t>
            </a:r>
            <a:endParaRPr lang="en-US" sz="2600" dirty="0"/>
          </a:p>
        </p:txBody>
      </p:sp>
      <p:sp>
        <p:nvSpPr>
          <p:cNvPr id="4" name="Text 2"/>
          <p:cNvSpPr txBox="1"/>
          <p:nvPr/>
        </p:nvSpPr>
        <p:spPr>
          <a:xfrm>
            <a:off x="841248" y="1481328"/>
            <a:ext cx="3931920" cy="320040"/>
          </a:xfrm>
          <a:prstGeom prst="rect">
            <a:avLst/>
          </a:prstGeom>
          <a:noFill/>
          <a:ln/>
        </p:spPr>
        <p:txBody>
          <a:bodyPr wrap="square" lIns="0" tIns="0" rIns="0" bIns="0" rtlCol="0" anchor="ctr"/>
          <a:lstStyle/>
          <a:p>
            <a:pPr indent="0" marL="0">
              <a:buNone/>
            </a:pPr>
            <a:r>
              <a:rPr lang="en-US" sz="1300" b="1" dirty="0">
                <a:solidFill>
                  <a:srgbClr val="27374D"/>
                </a:solidFill>
              </a:rPr>
              <a:t>판정은 세 단계로만</a:t>
            </a:r>
            <a:endParaRPr lang="en-US" sz="1300" dirty="0"/>
          </a:p>
        </p:txBody>
      </p:sp>
      <p:sp>
        <p:nvSpPr>
          <p:cNvPr id="5" name="Shape 3"/>
          <p:cNvSpPr/>
          <p:nvPr/>
        </p:nvSpPr>
        <p:spPr>
          <a:xfrm>
            <a:off x="841248" y="1874520"/>
            <a:ext cx="2377440" cy="493776"/>
          </a:xfrm>
          <a:prstGeom prst="roundRect">
            <a:avLst>
              <a:gd name="adj" fmla="val 50000"/>
            </a:avLst>
          </a:prstGeom>
          <a:solidFill>
            <a:srgbClr val="3E9B7A"/>
          </a:solidFill>
          <a:ln w="12700">
            <a:solidFill>
              <a:srgbClr val="3E9B7A"/>
            </a:solidFill>
            <a:prstDash val="solid"/>
          </a:ln>
        </p:spPr>
      </p:sp>
      <p:sp>
        <p:nvSpPr>
          <p:cNvPr id="6" name="Text 4"/>
          <p:cNvSpPr txBox="1"/>
          <p:nvPr/>
        </p:nvSpPr>
        <p:spPr>
          <a:xfrm>
            <a:off x="841248" y="1874520"/>
            <a:ext cx="2377440" cy="493776"/>
          </a:xfrm>
          <a:prstGeom prst="rect">
            <a:avLst/>
          </a:prstGeom>
          <a:noFill/>
          <a:ln/>
        </p:spPr>
        <p:txBody>
          <a:bodyPr wrap="square" lIns="0" tIns="0" rIns="0" bIns="0" rtlCol="0" anchor="ctr"/>
          <a:lstStyle/>
          <a:p>
            <a:pPr algn="ctr" indent="0" marL="0">
              <a:buNone/>
            </a:pPr>
            <a:r>
              <a:rPr lang="en-US" sz="1350" b="1" dirty="0">
                <a:solidFill>
                  <a:srgbClr val="FFFFFF"/>
                </a:solidFill>
              </a:rPr>
              <a:t>정상</a:t>
            </a:r>
            <a:endParaRPr lang="en-US" sz="1350" dirty="0"/>
          </a:p>
        </p:txBody>
      </p:sp>
      <p:sp>
        <p:nvSpPr>
          <p:cNvPr id="7" name="Shape 5"/>
          <p:cNvSpPr/>
          <p:nvPr/>
        </p:nvSpPr>
        <p:spPr>
          <a:xfrm>
            <a:off x="841248" y="2496312"/>
            <a:ext cx="2377440" cy="493776"/>
          </a:xfrm>
          <a:prstGeom prst="roundRect">
            <a:avLst>
              <a:gd name="adj" fmla="val 50000"/>
            </a:avLst>
          </a:prstGeom>
          <a:solidFill>
            <a:srgbClr val="E09F3E"/>
          </a:solidFill>
          <a:ln w="12700">
            <a:solidFill>
              <a:srgbClr val="E09F3E"/>
            </a:solidFill>
            <a:prstDash val="solid"/>
          </a:ln>
        </p:spPr>
      </p:sp>
      <p:sp>
        <p:nvSpPr>
          <p:cNvPr id="8" name="Text 6"/>
          <p:cNvSpPr txBox="1"/>
          <p:nvPr/>
        </p:nvSpPr>
        <p:spPr>
          <a:xfrm>
            <a:off x="841248" y="2496312"/>
            <a:ext cx="2377440" cy="493776"/>
          </a:xfrm>
          <a:prstGeom prst="rect">
            <a:avLst/>
          </a:prstGeom>
          <a:noFill/>
          <a:ln/>
        </p:spPr>
        <p:txBody>
          <a:bodyPr wrap="square" lIns="0" tIns="0" rIns="0" bIns="0" rtlCol="0" anchor="ctr"/>
          <a:lstStyle/>
          <a:p>
            <a:pPr algn="ctr" indent="0" marL="0">
              <a:buNone/>
            </a:pPr>
            <a:r>
              <a:rPr lang="en-US" sz="1350" b="1" dirty="0">
                <a:solidFill>
                  <a:srgbClr val="FFFFFF"/>
                </a:solidFill>
              </a:rPr>
              <a:t>주의</a:t>
            </a:r>
            <a:endParaRPr lang="en-US" sz="1350" dirty="0"/>
          </a:p>
        </p:txBody>
      </p:sp>
      <p:sp>
        <p:nvSpPr>
          <p:cNvPr id="9" name="Shape 7"/>
          <p:cNvSpPr/>
          <p:nvPr/>
        </p:nvSpPr>
        <p:spPr>
          <a:xfrm>
            <a:off x="841248" y="3118104"/>
            <a:ext cx="2377440" cy="493776"/>
          </a:xfrm>
          <a:prstGeom prst="roundRect">
            <a:avLst>
              <a:gd name="adj" fmla="val 50000"/>
            </a:avLst>
          </a:prstGeom>
          <a:solidFill>
            <a:srgbClr val="C64848"/>
          </a:solidFill>
          <a:ln w="12700">
            <a:solidFill>
              <a:srgbClr val="C64848"/>
            </a:solidFill>
            <a:prstDash val="solid"/>
          </a:ln>
        </p:spPr>
      </p:sp>
      <p:sp>
        <p:nvSpPr>
          <p:cNvPr id="10" name="Text 8"/>
          <p:cNvSpPr txBox="1"/>
          <p:nvPr/>
        </p:nvSpPr>
        <p:spPr>
          <a:xfrm>
            <a:off x="841248" y="3118104"/>
            <a:ext cx="2377440" cy="493776"/>
          </a:xfrm>
          <a:prstGeom prst="rect">
            <a:avLst/>
          </a:prstGeom>
          <a:noFill/>
          <a:ln/>
        </p:spPr>
        <p:txBody>
          <a:bodyPr wrap="square" lIns="0" tIns="0" rIns="0" bIns="0" rtlCol="0" anchor="ctr"/>
          <a:lstStyle/>
          <a:p>
            <a:pPr algn="ctr" indent="0" marL="0">
              <a:buNone/>
            </a:pPr>
            <a:r>
              <a:rPr lang="en-US" sz="1350" b="1" dirty="0">
                <a:solidFill>
                  <a:srgbClr val="FFFFFF"/>
                </a:solidFill>
              </a:rPr>
              <a:t>상담 권장</a:t>
            </a:r>
            <a:endParaRPr lang="en-US" sz="1350" dirty="0"/>
          </a:p>
        </p:txBody>
      </p:sp>
      <p:sp>
        <p:nvSpPr>
          <p:cNvPr id="11" name="Text 9"/>
          <p:cNvSpPr txBox="1"/>
          <p:nvPr/>
        </p:nvSpPr>
        <p:spPr>
          <a:xfrm>
            <a:off x="841248" y="3840480"/>
            <a:ext cx="3931920" cy="731520"/>
          </a:xfrm>
          <a:prstGeom prst="rect">
            <a:avLst/>
          </a:prstGeom>
          <a:noFill/>
          <a:ln/>
        </p:spPr>
        <p:txBody>
          <a:bodyPr wrap="square" lIns="0" tIns="0" rIns="0" bIns="0" rtlCol="0" anchor="ctr"/>
          <a:lstStyle/>
          <a:p>
            <a:pPr indent="0" marL="0">
              <a:buNone/>
            </a:pPr>
            <a:r>
              <a:rPr lang="en-US" sz="1150" dirty="0">
                <a:solidFill>
                  <a:srgbClr val="5C6B7A"/>
                </a:solidFill>
              </a:rPr>
              <a:t>'위험'은 쓰지 않습니다 —</a:t>
            </a:r>
            <a:endParaRPr lang="en-US" sz="1150" dirty="0"/>
          </a:p>
          <a:p>
            <a:pPr indent="0" marL="0">
              <a:buNone/>
            </a:pPr>
            <a:r>
              <a:rPr lang="en-US" sz="1150" dirty="0">
                <a:solidFill>
                  <a:srgbClr val="5C6B7A"/>
                </a:solidFill>
              </a:rPr>
              <a:t>공포가 아니라 다음 행동을 줍니다</a:t>
            </a:r>
            <a:endParaRPr lang="en-US" sz="1150" dirty="0"/>
          </a:p>
        </p:txBody>
      </p:sp>
      <p:sp>
        <p:nvSpPr>
          <p:cNvPr id="12" name="Shape 10"/>
          <p:cNvSpPr/>
          <p:nvPr/>
        </p:nvSpPr>
        <p:spPr>
          <a:xfrm>
            <a:off x="5394960" y="1554480"/>
            <a:ext cx="2468880" cy="1234440"/>
          </a:xfrm>
          <a:prstGeom prst="roundRect">
            <a:avLst>
              <a:gd name="adj" fmla="val 5185"/>
            </a:avLst>
          </a:prstGeom>
          <a:solidFill>
            <a:srgbClr val="27374D"/>
          </a:solidFill>
          <a:ln w="12700">
            <a:solidFill>
              <a:srgbClr val="27374D"/>
            </a:solidFill>
            <a:prstDash val="solid"/>
          </a:ln>
        </p:spPr>
      </p:sp>
      <p:sp>
        <p:nvSpPr>
          <p:cNvPr id="13" name="Text 11"/>
          <p:cNvSpPr txBox="1"/>
          <p:nvPr/>
        </p:nvSpPr>
        <p:spPr>
          <a:xfrm>
            <a:off x="5486400" y="1627632"/>
            <a:ext cx="2286000" cy="1097280"/>
          </a:xfrm>
          <a:prstGeom prst="rect">
            <a:avLst/>
          </a:prstGeom>
          <a:noFill/>
          <a:ln/>
        </p:spPr>
        <p:txBody>
          <a:bodyPr wrap="square" lIns="0" tIns="0" rIns="0" bIns="0" rtlCol="0" anchor="ctr"/>
          <a:lstStyle/>
          <a:p>
            <a:pPr indent="0" marL="0">
              <a:buNone/>
            </a:pPr>
            <a:r>
              <a:rPr lang="en-US" sz="1300" b="1" dirty="0">
                <a:solidFill>
                  <a:srgbClr val="FFFFFF"/>
                </a:solidFill>
              </a:rPr>
              <a:t>규칙 엔진 (앱 내부)
</a:t>
            </a:r>
            <a:pPr indent="0" marL="0">
              <a:buNone/>
            </a:pPr>
            <a:r>
              <a:rPr lang="en-US" sz="950" dirty="0">
                <a:solidFill>
                  <a:srgbClr val="DCE4EC"/>
                </a:solidFill>
              </a:rPr>
              <a:t>대한소아과학회·WHO</a:t>
            </a:r>
            <a:endParaRPr lang="en-US" sz="1300" dirty="0"/>
          </a:p>
          <a:p>
            <a:pPr indent="0" marL="0">
              <a:buNone/>
            </a:pPr>
            <a:r>
              <a:rPr lang="en-US" sz="950" dirty="0">
                <a:solidFill>
                  <a:srgbClr val="DCE4EC"/>
                </a:solidFill>
              </a:rPr>
              <a:t>공인 기준을 코드로</a:t>
            </a:r>
            <a:endParaRPr lang="en-US" sz="1300" dirty="0"/>
          </a:p>
        </p:txBody>
      </p:sp>
      <p:sp>
        <p:nvSpPr>
          <p:cNvPr id="14" name="Shape 12"/>
          <p:cNvSpPr/>
          <p:nvPr/>
        </p:nvSpPr>
        <p:spPr>
          <a:xfrm>
            <a:off x="5394960" y="3291840"/>
            <a:ext cx="2468880" cy="1234440"/>
          </a:xfrm>
          <a:prstGeom prst="roundRect">
            <a:avLst>
              <a:gd name="adj" fmla="val 5185"/>
            </a:avLst>
          </a:prstGeom>
          <a:solidFill>
            <a:srgbClr val="FFFFFF"/>
          </a:solidFill>
          <a:ln w="9525">
            <a:solidFill>
              <a:srgbClr val="5C6B7A"/>
            </a:solidFill>
            <a:prstDash val="solid"/>
          </a:ln>
        </p:spPr>
      </p:sp>
      <p:sp>
        <p:nvSpPr>
          <p:cNvPr id="15" name="Text 13"/>
          <p:cNvSpPr txBox="1"/>
          <p:nvPr/>
        </p:nvSpPr>
        <p:spPr>
          <a:xfrm>
            <a:off x="5486400" y="3364992"/>
            <a:ext cx="2286000" cy="1097280"/>
          </a:xfrm>
          <a:prstGeom prst="rect">
            <a:avLst/>
          </a:prstGeom>
          <a:noFill/>
          <a:ln/>
        </p:spPr>
        <p:txBody>
          <a:bodyPr wrap="square" lIns="0" tIns="0" rIns="0" bIns="0" rtlCol="0" anchor="ctr"/>
          <a:lstStyle/>
          <a:p>
            <a:pPr indent="0" marL="0">
              <a:buNone/>
            </a:pPr>
            <a:r>
              <a:rPr lang="en-US" sz="1300" b="1" dirty="0">
                <a:solidFill>
                  <a:srgbClr val="27374D"/>
                </a:solidFill>
              </a:rPr>
              <a:t>LLM (외부)
</a:t>
            </a:r>
            <a:pPr indent="0" marL="0">
              <a:buNone/>
            </a:pPr>
            <a:r>
              <a:rPr lang="en-US" sz="950" dirty="0">
                <a:solidFill>
                  <a:srgbClr val="5C6B7A"/>
                </a:solidFill>
              </a:rPr>
              <a:t>설명·상담 전용</a:t>
            </a:r>
            <a:endParaRPr lang="en-US" sz="1300" dirty="0"/>
          </a:p>
          <a:p>
            <a:pPr indent="0" marL="0">
              <a:buNone/>
            </a:pPr>
            <a:r>
              <a:rPr lang="en-US" sz="950" dirty="0">
                <a:solidFill>
                  <a:srgbClr val="5C6B7A"/>
                </a:solidFill>
              </a:rPr>
              <a:t>프롬프트로도 제한</a:t>
            </a:r>
            <a:endParaRPr lang="en-US" sz="1300" dirty="0"/>
          </a:p>
        </p:txBody>
      </p:sp>
      <p:sp>
        <p:nvSpPr>
          <p:cNvPr id="16" name="Shape 14"/>
          <p:cNvSpPr/>
          <p:nvPr/>
        </p:nvSpPr>
        <p:spPr>
          <a:xfrm>
            <a:off x="9144000" y="1554480"/>
            <a:ext cx="2194560" cy="1234440"/>
          </a:xfrm>
          <a:prstGeom prst="roundRect">
            <a:avLst>
              <a:gd name="adj" fmla="val 5185"/>
            </a:avLst>
          </a:prstGeom>
          <a:solidFill>
            <a:srgbClr val="E96A50"/>
          </a:solidFill>
          <a:ln w="12700">
            <a:solidFill>
              <a:srgbClr val="E96A50"/>
            </a:solidFill>
            <a:prstDash val="solid"/>
          </a:ln>
        </p:spPr>
      </p:sp>
      <p:sp>
        <p:nvSpPr>
          <p:cNvPr id="17" name="Text 15"/>
          <p:cNvSpPr txBox="1"/>
          <p:nvPr/>
        </p:nvSpPr>
        <p:spPr>
          <a:xfrm>
            <a:off x="9144000" y="1554480"/>
            <a:ext cx="2194560" cy="1234440"/>
          </a:xfrm>
          <a:prstGeom prst="rect">
            <a:avLst/>
          </a:prstGeom>
          <a:noFill/>
          <a:ln/>
        </p:spPr>
        <p:txBody>
          <a:bodyPr wrap="square" lIns="0" tIns="0" rIns="0" bIns="0" rtlCol="0" anchor="ctr"/>
          <a:lstStyle/>
          <a:p>
            <a:pPr algn="ctr" indent="0" marL="0">
              <a:buNone/>
            </a:pPr>
            <a:r>
              <a:rPr lang="en-US" sz="1450" b="1" dirty="0">
                <a:solidFill>
                  <a:srgbClr val="FFFFFF"/>
                </a:solidFill>
              </a:rPr>
              <a:t>판정 + 근거</a:t>
            </a:r>
            <a:endParaRPr lang="en-US" sz="1450" dirty="0"/>
          </a:p>
        </p:txBody>
      </p:sp>
      <p:sp>
        <p:nvSpPr>
          <p:cNvPr id="18" name="Shape 16"/>
          <p:cNvSpPr/>
          <p:nvPr/>
        </p:nvSpPr>
        <p:spPr>
          <a:xfrm>
            <a:off x="9144000" y="3291840"/>
            <a:ext cx="2194560" cy="1234440"/>
          </a:xfrm>
          <a:prstGeom prst="roundRect">
            <a:avLst>
              <a:gd name="adj" fmla="val 5185"/>
            </a:avLst>
          </a:prstGeom>
          <a:solidFill>
            <a:srgbClr val="FFFFFF"/>
          </a:solidFill>
          <a:ln w="9525">
            <a:solidFill>
              <a:srgbClr val="8FAE9B"/>
            </a:solidFill>
            <a:prstDash val="solid"/>
          </a:ln>
        </p:spPr>
      </p:sp>
      <p:sp>
        <p:nvSpPr>
          <p:cNvPr id="19" name="Text 17"/>
          <p:cNvSpPr txBox="1"/>
          <p:nvPr/>
        </p:nvSpPr>
        <p:spPr>
          <a:xfrm>
            <a:off x="9144000" y="3291840"/>
            <a:ext cx="2194560" cy="1234440"/>
          </a:xfrm>
          <a:prstGeom prst="rect">
            <a:avLst/>
          </a:prstGeom>
          <a:noFill/>
          <a:ln/>
        </p:spPr>
        <p:txBody>
          <a:bodyPr wrap="square" lIns="0" tIns="0" rIns="0" bIns="0" rtlCol="0" anchor="ctr"/>
          <a:lstStyle/>
          <a:p>
            <a:pPr algn="ctr" indent="0" marL="0">
              <a:buNone/>
            </a:pPr>
            <a:r>
              <a:rPr lang="en-US" sz="1450" b="1" dirty="0">
                <a:solidFill>
                  <a:srgbClr val="27374D"/>
                </a:solidFill>
              </a:rPr>
              <a:t>설명 · 상담</a:t>
            </a:r>
            <a:endParaRPr lang="en-US" sz="1450" dirty="0"/>
          </a:p>
        </p:txBody>
      </p:sp>
      <p:sp>
        <p:nvSpPr>
          <p:cNvPr id="20" name="Shape 18"/>
          <p:cNvSpPr/>
          <p:nvPr/>
        </p:nvSpPr>
        <p:spPr>
          <a:xfrm>
            <a:off x="7863840" y="2167128"/>
            <a:ext cx="1280160" cy="0"/>
          </a:xfrm>
          <a:prstGeom prst="line">
            <a:avLst/>
          </a:prstGeom>
          <a:noFill/>
          <a:ln w="25400">
            <a:solidFill>
              <a:srgbClr val="27374D"/>
            </a:solidFill>
            <a:prstDash val="solid"/>
            <a:tailEnd type="triangle"/>
          </a:ln>
        </p:spPr>
      </p:sp>
      <p:sp>
        <p:nvSpPr>
          <p:cNvPr id="21" name="Shape 19"/>
          <p:cNvSpPr/>
          <p:nvPr/>
        </p:nvSpPr>
        <p:spPr>
          <a:xfrm>
            <a:off x="7863840" y="3904488"/>
            <a:ext cx="1280160" cy="0"/>
          </a:xfrm>
          <a:prstGeom prst="line">
            <a:avLst/>
          </a:prstGeom>
          <a:noFill/>
          <a:ln w="25400">
            <a:solidFill>
              <a:srgbClr val="8FAE9B"/>
            </a:solidFill>
            <a:prstDash val="solid"/>
            <a:tailEnd type="triangle"/>
          </a:ln>
        </p:spPr>
      </p:sp>
      <p:sp>
        <p:nvSpPr>
          <p:cNvPr id="22" name="Shape 20"/>
          <p:cNvSpPr/>
          <p:nvPr/>
        </p:nvSpPr>
        <p:spPr>
          <a:xfrm flipV="1">
            <a:off x="7863840" y="2514600"/>
            <a:ext cx="1280160" cy="1188720"/>
          </a:xfrm>
          <a:prstGeom prst="line">
            <a:avLst/>
          </a:prstGeom>
          <a:noFill/>
          <a:ln w="22225">
            <a:solidFill>
              <a:srgbClr val="C64848"/>
            </a:solidFill>
            <a:prstDash val="dash"/>
            <a:tailEnd type="triangle"/>
          </a:ln>
        </p:spPr>
      </p:sp>
      <p:sp>
        <p:nvSpPr>
          <p:cNvPr id="23" name="Shape 21"/>
          <p:cNvSpPr/>
          <p:nvPr/>
        </p:nvSpPr>
        <p:spPr>
          <a:xfrm>
            <a:off x="8339328" y="2907792"/>
            <a:ext cx="329184" cy="329184"/>
          </a:xfrm>
          <a:prstGeom prst="ellipse">
            <a:avLst/>
          </a:prstGeom>
          <a:solidFill>
            <a:srgbClr val="C64848"/>
          </a:solidFill>
          <a:ln w="12700">
            <a:solidFill>
              <a:srgbClr val="C64848"/>
            </a:solidFill>
            <a:prstDash val="solid"/>
          </a:ln>
        </p:spPr>
      </p:sp>
      <p:sp>
        <p:nvSpPr>
          <p:cNvPr id="24" name="Text 22"/>
          <p:cNvSpPr txBox="1"/>
          <p:nvPr/>
        </p:nvSpPr>
        <p:spPr>
          <a:xfrm>
            <a:off x="8339328" y="29077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5" name="Text 23"/>
          <p:cNvSpPr txBox="1"/>
          <p:nvPr/>
        </p:nvSpPr>
        <p:spPr>
          <a:xfrm>
            <a:off x="5394960" y="4709160"/>
            <a:ext cx="5943600" cy="320040"/>
          </a:xfrm>
          <a:prstGeom prst="rect">
            <a:avLst/>
          </a:prstGeom>
          <a:noFill/>
          <a:ln/>
        </p:spPr>
        <p:txBody>
          <a:bodyPr wrap="square" lIns="0" tIns="0" rIns="0" bIns="0" rtlCol="0" anchor="ctr"/>
          <a:lstStyle/>
          <a:p>
            <a:pPr indent="0" marL="0">
              <a:buNone/>
            </a:pPr>
            <a:r>
              <a:rPr lang="en-US" sz="1200" b="1" dirty="0">
                <a:solidFill>
                  <a:srgbClr val="C64848"/>
                </a:solidFill>
              </a:rPr>
              <a:t>LLM 응답이 판정 값을 바꿀 경로가 코드에 없습니다</a:t>
            </a:r>
            <a:endParaRPr lang="en-US" sz="1200" dirty="0"/>
          </a:p>
        </p:txBody>
      </p:sp>
      <p:sp>
        <p:nvSpPr>
          <p:cNvPr id="26" name="Shape 24"/>
          <p:cNvSpPr/>
          <p:nvPr/>
        </p:nvSpPr>
        <p:spPr>
          <a:xfrm>
            <a:off x="822960" y="5349240"/>
            <a:ext cx="5120640" cy="777240"/>
          </a:xfrm>
          <a:prstGeom prst="roundRect">
            <a:avLst>
              <a:gd name="adj" fmla="val 8235"/>
            </a:avLst>
          </a:prstGeom>
          <a:solidFill>
            <a:srgbClr val="FAE3DC"/>
          </a:solidFill>
          <a:ln w="12700">
            <a:solidFill>
              <a:srgbClr val="FAE3DC"/>
            </a:solidFill>
            <a:prstDash val="solid"/>
          </a:ln>
        </p:spPr>
      </p:sp>
      <p:sp>
        <p:nvSpPr>
          <p:cNvPr id="27" name="Text 25"/>
          <p:cNvSpPr txBox="1"/>
          <p:nvPr/>
        </p:nvSpPr>
        <p:spPr>
          <a:xfrm>
            <a:off x="1005840" y="5349240"/>
            <a:ext cx="4754880" cy="777240"/>
          </a:xfrm>
          <a:prstGeom prst="rect">
            <a:avLst/>
          </a:prstGeom>
          <a:noFill/>
          <a:ln/>
        </p:spPr>
        <p:txBody>
          <a:bodyPr wrap="square" lIns="0" tIns="0" rIns="0" bIns="0" rtlCol="0" anchor="ctr"/>
          <a:lstStyle/>
          <a:p>
            <a:pPr indent="0" marL="0">
              <a:buNone/>
            </a:pPr>
            <a:r>
              <a:rPr lang="en-US" sz="1150" b="1" dirty="0">
                <a:solidFill>
                  <a:srgbClr val="27374D"/>
                </a:solidFill>
              </a:rPr>
              <a:t>근거가 부족하면 '보류' — 어림짐작으로 등급을 내리지 않음</a:t>
            </a:r>
            <a:endParaRPr lang="en-US" sz="1150" dirty="0"/>
          </a:p>
        </p:txBody>
      </p:sp>
      <p:sp>
        <p:nvSpPr>
          <p:cNvPr id="28" name="Shape 26"/>
          <p:cNvSpPr/>
          <p:nvPr/>
        </p:nvSpPr>
        <p:spPr>
          <a:xfrm>
            <a:off x="6217920" y="5349240"/>
            <a:ext cx="5120640" cy="777240"/>
          </a:xfrm>
          <a:prstGeom prst="roundRect">
            <a:avLst>
              <a:gd name="adj" fmla="val 8235"/>
            </a:avLst>
          </a:prstGeom>
          <a:solidFill>
            <a:srgbClr val="FAE3DC"/>
          </a:solidFill>
          <a:ln w="12700">
            <a:solidFill>
              <a:srgbClr val="FAE3DC"/>
            </a:solidFill>
            <a:prstDash val="solid"/>
          </a:ln>
        </p:spPr>
      </p:sp>
      <p:sp>
        <p:nvSpPr>
          <p:cNvPr id="29" name="Text 27"/>
          <p:cNvSpPr txBox="1"/>
          <p:nvPr/>
        </p:nvSpPr>
        <p:spPr>
          <a:xfrm>
            <a:off x="6400800" y="5349240"/>
            <a:ext cx="4800600" cy="777240"/>
          </a:xfrm>
          <a:prstGeom prst="rect">
            <a:avLst/>
          </a:prstGeom>
          <a:noFill/>
          <a:ln/>
        </p:spPr>
        <p:txBody>
          <a:bodyPr wrap="square" lIns="0" tIns="0" rIns="0" bIns="0" rtlCol="0" anchor="ctr"/>
          <a:lstStyle/>
          <a:p>
            <a:pPr indent="0" marL="0">
              <a:buNone/>
            </a:pPr>
            <a:r>
              <a:rPr lang="en-US" sz="1150" b="1" dirty="0">
                <a:solidFill>
                  <a:srgbClr val="27374D"/>
                </a:solidFill>
              </a:rPr>
              <a:t>모든 화면 상시 고지 — "의료기기가 아니며 진단을 대신하지 않음"</a:t>
            </a:r>
            <a:endParaRPr lang="en-US" sz="115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기능 ① 3단계 상태 판정 — 시나리오</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새벽 2시, 생후 2개월 · 38.2℃</a:t>
            </a:r>
            <a:endParaRPr lang="en-US" sz="2600" dirty="0"/>
          </a:p>
        </p:txBody>
      </p:sp>
      <p:sp>
        <p:nvSpPr>
          <p:cNvPr id="4" name="Shape 2"/>
          <p:cNvSpPr/>
          <p:nvPr/>
        </p:nvSpPr>
        <p:spPr>
          <a:xfrm>
            <a:off x="822960" y="1463040"/>
            <a:ext cx="6720840" cy="914400"/>
          </a:xfrm>
          <a:prstGeom prst="roundRect">
            <a:avLst>
              <a:gd name="adj" fmla="val 7000"/>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Shape 3"/>
          <p:cNvSpPr/>
          <p:nvPr/>
        </p:nvSpPr>
        <p:spPr>
          <a:xfrm>
            <a:off x="1005840" y="1700784"/>
            <a:ext cx="1371600" cy="438912"/>
          </a:xfrm>
          <a:prstGeom prst="roundRect">
            <a:avLst>
              <a:gd name="adj" fmla="val 50000"/>
            </a:avLst>
          </a:prstGeom>
          <a:solidFill>
            <a:srgbClr val="C64848"/>
          </a:solidFill>
          <a:ln w="12700">
            <a:solidFill>
              <a:srgbClr val="C64848"/>
            </a:solidFill>
            <a:prstDash val="solid"/>
          </a:ln>
        </p:spPr>
      </p:sp>
      <p:sp>
        <p:nvSpPr>
          <p:cNvPr id="6" name="Text 4"/>
          <p:cNvSpPr txBox="1"/>
          <p:nvPr/>
        </p:nvSpPr>
        <p:spPr>
          <a:xfrm>
            <a:off x="1005840" y="1700784"/>
            <a:ext cx="1371600" cy="438912"/>
          </a:xfrm>
          <a:prstGeom prst="rect">
            <a:avLst/>
          </a:prstGeom>
          <a:noFill/>
          <a:ln/>
        </p:spPr>
        <p:txBody>
          <a:bodyPr wrap="square" lIns="0" tIns="0" rIns="0" bIns="0" rtlCol="0" anchor="ctr"/>
          <a:lstStyle/>
          <a:p>
            <a:pPr algn="ctr" indent="0" marL="0">
              <a:buNone/>
            </a:pPr>
            <a:r>
              <a:rPr lang="en-US" sz="1250" b="1" dirty="0">
                <a:solidFill>
                  <a:srgbClr val="FFFFFF"/>
                </a:solidFill>
              </a:rPr>
              <a:t>상담 권장</a:t>
            </a:r>
            <a:endParaRPr lang="en-US" sz="1250" dirty="0"/>
          </a:p>
        </p:txBody>
      </p:sp>
      <p:sp>
        <p:nvSpPr>
          <p:cNvPr id="7" name="Text 5"/>
          <p:cNvSpPr txBox="1"/>
          <p:nvPr/>
        </p:nvSpPr>
        <p:spPr>
          <a:xfrm>
            <a:off x="2514600" y="1554480"/>
            <a:ext cx="4937760" cy="731520"/>
          </a:xfrm>
          <a:prstGeom prst="rect">
            <a:avLst/>
          </a:prstGeom>
          <a:noFill/>
          <a:ln/>
        </p:spPr>
        <p:txBody>
          <a:bodyPr wrap="square" lIns="0" tIns="0" rIns="0" bIns="0" rtlCol="0" anchor="ctr"/>
          <a:lstStyle/>
          <a:p>
            <a:pPr indent="0" marL="0">
              <a:buNone/>
            </a:pPr>
            <a:r>
              <a:rPr lang="en-US" sz="1200" dirty="0">
                <a:solidFill>
                  <a:srgbClr val="27374D"/>
                </a:solidFill>
              </a:rPr>
              <a:t>"3개월 미만의 발열은 진료가 필요하니 바로 소아청소년과에 문의하세요"</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606040"/>
          <a:ext cx="6720840" cy="914400"/>
        </p:xfrm>
        <a:graphic>
          <a:graphicData uri="http://schemas.openxmlformats.org/drawingml/2006/table">
            <a:tbl>
              <a:tblPr/>
              <a:tblGrid>
                <a:gridCol w="1783080"/>
                <a:gridCol w="1828800"/>
                <a:gridCol w="1554480"/>
                <a:gridCol w="1554480"/>
              </a:tblGrid>
              <a:tr h="310896">
                <a:tc>
                  <a:txBody>
                    <a:bodyPr/>
                    <a:lstStyle/>
                    <a:p>
                      <a:pPr algn="l" indent="0" marL="0">
                        <a:buNone/>
                      </a:pPr>
                      <a:r>
                        <a:rPr lang="en-US" sz="1050" b="1" dirty="0">
                          <a:solidFill>
                            <a:srgbClr val="FFFFFF"/>
                          </a:solidFill>
                        </a:rPr>
                        <a:t>체온 기준 (월령별)</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27374D"/>
                    </a:solidFill>
                  </a:tcPr>
                </a:tc>
                <a:tc>
                  <a:txBody>
                    <a:bodyPr/>
                    <a:lstStyle/>
                    <a:p>
                      <a:pPr algn="ctr" indent="0" marL="0">
                        <a:buNone/>
                      </a:pPr>
                      <a:r>
                        <a:rPr lang="en-US" sz="1050" b="1" dirty="0">
                          <a:solidFill>
                            <a:srgbClr val="FFFFFF"/>
                          </a:solidFill>
                        </a:rPr>
                        <a:t>정상</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3E9B7A"/>
                    </a:solidFill>
                  </a:tcPr>
                </a:tc>
                <a:tc>
                  <a:txBody>
                    <a:bodyPr/>
                    <a:lstStyle/>
                    <a:p>
                      <a:pPr algn="ctr" indent="0" marL="0">
                        <a:buNone/>
                      </a:pPr>
                      <a:r>
                        <a:rPr lang="en-US" sz="1050" b="1" dirty="0">
                          <a:solidFill>
                            <a:srgbClr val="FFFFFF"/>
                          </a:solidFill>
                        </a:rPr>
                        <a:t>주의</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E09F3E"/>
                    </a:solidFill>
                  </a:tcPr>
                </a:tc>
                <a:tc>
                  <a:txBody>
                    <a:bodyPr/>
                    <a:lstStyle/>
                    <a:p>
                      <a:pPr algn="ctr" indent="0" marL="0">
                        <a:buNone/>
                      </a:pPr>
                      <a:r>
                        <a:rPr lang="en-US" sz="1050" b="1" dirty="0">
                          <a:solidFill>
                            <a:srgbClr val="FFFFFF"/>
                          </a:solidFill>
                        </a:rPr>
                        <a:t>상담 권장</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C64848"/>
                    </a:solidFill>
                  </a:tcPr>
                </a:tc>
              </a:tr>
              <a:tr h="310896">
                <a:tc>
                  <a:txBody>
                    <a:bodyPr/>
                    <a:lstStyle/>
                    <a:p>
                      <a:pPr indent="0" marL="0">
                        <a:buNone/>
                      </a:pPr>
                      <a:r>
                        <a:rPr lang="en-US" sz="1050" dirty="0">
                          <a:solidFill>
                            <a:srgbClr val="27374D"/>
                          </a:solidFill>
                        </a:rPr>
                        <a:t>0~3개월</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36.5~37.5℃ 미만</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37.5~38.0℃</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7374D"/>
                          </a:solidFill>
                        </a:rPr>
                        <a:t>38.0℃ 이상</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27374D"/>
                          </a:solidFill>
                        </a:rPr>
                        <a:t>3~6개월</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37.5℃ 미만</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37.5~38.5℃</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38.5℃ 이상</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27374D"/>
                          </a:solidFill>
                        </a:rPr>
                        <a:t>6개월 이상</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37.5℃ 미만</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37.5~39.0℃</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74D"/>
                          </a:solidFill>
                        </a:rPr>
                        <a:t>39.0℃ 이상</a:t>
                      </a:r>
                      <a:endParaRPr lang="en-US" sz="1050" dirty="0"/>
                    </a:p>
                  </a:txBody>
                  <a:tcPr marL="54864" marR="54864" marT="54864" marB="54864" anchor="ctr">
                    <a:lnL w="6350" cap="flat" cmpd="sng" algn="ctr">
                      <a:solidFill>
                        <a:srgbClr val="E3D7C8"/>
                      </a:solidFill>
                      <a:prstDash val="solid"/>
                      <a:round/>
                      <a:headEnd type="none" w="med" len="med"/>
                      <a:tailEnd type="none" w="med" len="med"/>
                    </a:lnL>
                    <a:lnR w="6350" cap="flat" cmpd="sng" algn="ctr">
                      <a:solidFill>
                        <a:srgbClr val="E3D7C8"/>
                      </a:solidFill>
                      <a:prstDash val="solid"/>
                      <a:round/>
                      <a:headEnd type="none" w="med" len="med"/>
                      <a:tailEnd type="none" w="med" len="med"/>
                    </a:lnR>
                    <a:lnT w="6350" cap="flat" cmpd="sng" algn="ctr">
                      <a:solidFill>
                        <a:srgbClr val="E3D7C8"/>
                      </a:solidFill>
                      <a:prstDash val="solid"/>
                      <a:round/>
                      <a:headEnd type="none" w="med" len="med"/>
                      <a:tailEnd type="none" w="med" len="med"/>
                    </a:lnT>
                    <a:lnB w="6350" cap="flat" cmpd="sng" algn="ctr">
                      <a:solidFill>
                        <a:srgbClr val="E3D7C8"/>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841248" y="4343400"/>
            <a:ext cx="6675120" cy="1600200"/>
          </a:xfrm>
          <a:prstGeom prst="rect">
            <a:avLst/>
          </a:prstGeom>
          <a:noFill/>
          <a:ln/>
        </p:spPr>
        <p:txBody>
          <a:bodyPr wrap="square" lIns="0" tIns="0" rIns="0" bIns="0" rtlCol="0" anchor="t"/>
          <a:lstStyle/>
          <a:p>
            <a:pPr marL="127000" indent="-127000">
              <a:lnSpc>
                <a:spcPct val="112000"/>
              </a:lnSpc>
              <a:spcAft>
                <a:spcPts val="500"/>
              </a:spcAft>
              <a:buSzPct val="100000"/>
              <a:buChar char="•"/>
            </a:pPr>
            <a:r>
              <a:rPr lang="en-US" sz="1150" dirty="0">
                <a:solidFill>
                  <a:srgbClr val="27374D"/>
                </a:solidFill>
              </a:rPr>
              <a:t>성장: WHO 성장 표준 Z-score · 수면 소음: WHO 침실 권고 30dB / 상한 50dB</a:t>
            </a:r>
            <a:endParaRPr lang="en-US" sz="1150" dirty="0"/>
          </a:p>
          <a:p>
            <a:pPr marL="127000" indent="-127000">
              <a:lnSpc>
                <a:spcPct val="112000"/>
              </a:lnSpc>
              <a:spcAft>
                <a:spcPts val="500"/>
              </a:spcAft>
              <a:buSzPct val="100000"/>
              <a:buChar char="•"/>
            </a:pPr>
            <a:r>
              <a:rPr lang="en-US" sz="1150" dirty="0">
                <a:solidFill>
                  <a:srgbClr val="27374D"/>
                </a:solidFill>
              </a:rPr>
              <a:t>소음의 최고 등급은 '개선 권장' — 의료 판단이 아니라 환경 문제이므로</a:t>
            </a:r>
            <a:endParaRPr lang="en-US" sz="1150" dirty="0"/>
          </a:p>
          <a:p>
            <a:pPr marL="127000" indent="-127000">
              <a:lnSpc>
                <a:spcPct val="112000"/>
              </a:lnSpc>
              <a:spcAft>
                <a:spcPts val="500"/>
              </a:spcAft>
              <a:buSzPct val="100000"/>
              <a:buChar char="•"/>
            </a:pPr>
            <a:r>
              <a:rPr lang="en-US" sz="1150" dirty="0">
                <a:solidFill>
                  <a:srgbClr val="27374D"/>
                </a:solidFill>
              </a:rPr>
              <a:t>표본 부족·기준 밖 월령 → '보류' / 수유·수면·배변은 기준 부재로 기록·집계만</a:t>
            </a:r>
            <a:endParaRPr lang="en-US" sz="1150" dirty="0"/>
          </a:p>
          <a:p>
            <a:pPr marL="127000" indent="-127000">
              <a:lnSpc>
                <a:spcPct val="112000"/>
              </a:lnSpc>
              <a:spcAft>
                <a:spcPts val="500"/>
              </a:spcAft>
              <a:buSzPct val="100000"/>
              <a:buChar char="•"/>
            </a:pPr>
            <a:r>
              <a:rPr lang="en-US" sz="1150" dirty="0">
                <a:solidFill>
                  <a:srgbClr val="27374D"/>
                </a:solidFill>
              </a:rPr>
              <a:t>판정은 전부 앱 내부 — 외부 서버 없이 야간·휴일에도 동작</a:t>
            </a:r>
            <a:endParaRPr lang="en-US" sz="1150" dirty="0"/>
          </a:p>
        </p:txBody>
      </p:sp>
      <p:sp>
        <p:nvSpPr>
          <p:cNvPr id="10" name="Shape 7"/>
          <p:cNvSpPr/>
          <p:nvPr/>
        </p:nvSpPr>
        <p:spPr>
          <a:xfrm>
            <a:off x="822960" y="5897880"/>
            <a:ext cx="4480560" cy="347472"/>
          </a:xfrm>
          <a:prstGeom prst="roundRect">
            <a:avLst>
              <a:gd name="adj" fmla="val 50000"/>
            </a:avLst>
          </a:prstGeom>
          <a:solidFill>
            <a:srgbClr val="FAE3DC"/>
          </a:solidFill>
          <a:ln w="12700">
            <a:solidFill>
              <a:srgbClr val="FAE3DC"/>
            </a:solidFill>
            <a:prstDash val="solid"/>
          </a:ln>
        </p:spPr>
      </p:sp>
      <p:sp>
        <p:nvSpPr>
          <p:cNvPr id="11" name="Text 8"/>
          <p:cNvSpPr txBox="1"/>
          <p:nvPr/>
        </p:nvSpPr>
        <p:spPr>
          <a:xfrm>
            <a:off x="987552" y="5897880"/>
            <a:ext cx="4297680" cy="347472"/>
          </a:xfrm>
          <a:prstGeom prst="rect">
            <a:avLst/>
          </a:prstGeom>
          <a:noFill/>
          <a:ln/>
        </p:spPr>
        <p:txBody>
          <a:bodyPr wrap="square" lIns="0" tIns="0" rIns="0" bIns="0" rtlCol="0" anchor="ctr"/>
          <a:lstStyle/>
          <a:p>
            <a:pPr indent="0" marL="0">
              <a:buNone/>
            </a:pPr>
            <a:r>
              <a:rPr lang="en-US" sz="950" b="1" dirty="0">
                <a:solidFill>
                  <a:srgbClr val="27374D"/>
                </a:solidFill>
              </a:rPr>
              <a:t>출처 — 대한소아과학회 발열 기준 · WHO 성장 표준</a:t>
            </a:r>
            <a:endParaRPr lang="en-US" sz="950" dirty="0"/>
          </a:p>
        </p:txBody>
      </p:sp>
      <p:sp>
        <p:nvSpPr>
          <p:cNvPr id="12" name="Shape 9"/>
          <p:cNvSpPr/>
          <p:nvPr/>
        </p:nvSpPr>
        <p:spPr>
          <a:xfrm>
            <a:off x="7818120"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3" name="Shape 10"/>
          <p:cNvSpPr/>
          <p:nvPr/>
        </p:nvSpPr>
        <p:spPr>
          <a:xfrm>
            <a:off x="7882128" y="1527048"/>
            <a:ext cx="1655064" cy="3739896"/>
          </a:xfrm>
          <a:prstGeom prst="roundRect">
            <a:avLst>
              <a:gd name="adj" fmla="val 3315"/>
            </a:avLst>
          </a:prstGeom>
          <a:solidFill>
            <a:srgbClr val="FBF5EE"/>
          </a:solidFill>
          <a:ln w="9525">
            <a:solidFill>
              <a:srgbClr val="5C6B7A"/>
            </a:solidFill>
            <a:prstDash val="dash"/>
          </a:ln>
        </p:spPr>
      </p:sp>
      <p:sp>
        <p:nvSpPr>
          <p:cNvPr id="14" name="Text 11"/>
          <p:cNvSpPr txBox="1"/>
          <p:nvPr/>
        </p:nvSpPr>
        <p:spPr>
          <a:xfrm>
            <a:off x="7909560"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03-temp-consult.png
</a:t>
            </a:r>
            <a:pPr algn="ctr" indent="0" marL="0">
              <a:buNone/>
            </a:pPr>
            <a:r>
              <a:rPr lang="en-US" sz="850" dirty="0">
                <a:solidFill>
                  <a:srgbClr val="5C6B7A"/>
                </a:solidFill>
              </a:rPr>
              <a:t>체온 38.2℃ → 상담 권장 + 고지</a:t>
            </a:r>
            <a:endParaRPr lang="en-US" sz="850" dirty="0"/>
          </a:p>
        </p:txBody>
      </p:sp>
      <p:sp>
        <p:nvSpPr>
          <p:cNvPr id="15" name="Shape 12"/>
          <p:cNvSpPr/>
          <p:nvPr/>
        </p:nvSpPr>
        <p:spPr>
          <a:xfrm>
            <a:off x="9710928"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6" name="Shape 13"/>
          <p:cNvSpPr/>
          <p:nvPr/>
        </p:nvSpPr>
        <p:spPr>
          <a:xfrm>
            <a:off x="9774936" y="1527048"/>
            <a:ext cx="1655064" cy="3739896"/>
          </a:xfrm>
          <a:prstGeom prst="roundRect">
            <a:avLst>
              <a:gd name="adj" fmla="val 3315"/>
            </a:avLst>
          </a:prstGeom>
          <a:solidFill>
            <a:srgbClr val="FBF5EE"/>
          </a:solidFill>
          <a:ln w="9525">
            <a:solidFill>
              <a:srgbClr val="5C6B7A"/>
            </a:solidFill>
            <a:prstDash val="dash"/>
          </a:ln>
        </p:spPr>
      </p:sp>
      <p:sp>
        <p:nvSpPr>
          <p:cNvPr id="17" name="Text 14"/>
          <p:cNvSpPr txBox="1"/>
          <p:nvPr/>
        </p:nvSpPr>
        <p:spPr>
          <a:xfrm>
            <a:off x="9802368"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12-growth-tooltip.png
</a:t>
            </a:r>
            <a:pPr algn="ctr" indent="0" marL="0">
              <a:buNone/>
            </a:pPr>
            <a:r>
              <a:rPr lang="en-US" sz="850" dirty="0">
                <a:solidFill>
                  <a:srgbClr val="5C6B7A"/>
                </a:solidFill>
              </a:rPr>
              <a:t>WHO 성장 곡선 + 기록 툴팁</a:t>
            </a:r>
            <a:endParaRPr lang="en-US" sz="85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기능 ② AI 상담 · 피부 살펴보기 — 시나리오 계속</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그 열에 대해, AI에게 묻다</a:t>
            </a:r>
            <a:endParaRPr lang="en-US" sz="2600" dirty="0"/>
          </a:p>
        </p:txBody>
      </p:sp>
      <p:sp>
        <p:nvSpPr>
          <p:cNvPr id="4" name="Text 2"/>
          <p:cNvSpPr txBox="1"/>
          <p:nvPr/>
        </p:nvSpPr>
        <p:spPr>
          <a:xfrm>
            <a:off x="841248" y="1481328"/>
            <a:ext cx="3657600" cy="320040"/>
          </a:xfrm>
          <a:prstGeom prst="rect">
            <a:avLst/>
          </a:prstGeom>
          <a:noFill/>
          <a:ln/>
        </p:spPr>
        <p:txBody>
          <a:bodyPr wrap="square" lIns="0" tIns="0" rIns="0" bIns="0" rtlCol="0" anchor="ctr"/>
          <a:lstStyle/>
          <a:p>
            <a:pPr indent="0" marL="0">
              <a:buNone/>
            </a:pPr>
            <a:r>
              <a:rPr lang="en-US" sz="1350" b="1" dirty="0">
                <a:solidFill>
                  <a:srgbClr val="E96A50"/>
                </a:solidFill>
              </a:rPr>
              <a:t>AI 상담</a:t>
            </a:r>
            <a:endParaRPr lang="en-US" sz="1350" dirty="0"/>
          </a:p>
        </p:txBody>
      </p:sp>
      <p:sp>
        <p:nvSpPr>
          <p:cNvPr id="5" name="Text 3"/>
          <p:cNvSpPr txBox="1"/>
          <p:nvPr/>
        </p:nvSpPr>
        <p:spPr>
          <a:xfrm>
            <a:off x="841248" y="1828800"/>
            <a:ext cx="6675120" cy="1371600"/>
          </a:xfrm>
          <a:prstGeom prst="rect">
            <a:avLst/>
          </a:prstGeom>
          <a:noFill/>
          <a:ln/>
        </p:spPr>
        <p:txBody>
          <a:bodyPr wrap="square" lIns="0" tIns="0" rIns="0" bIns="0" rtlCol="0" anchor="t"/>
          <a:lstStyle/>
          <a:p>
            <a:pPr marL="127000" indent="-127000">
              <a:lnSpc>
                <a:spcPct val="112000"/>
              </a:lnSpc>
              <a:spcAft>
                <a:spcPts val="600"/>
              </a:spcAft>
              <a:buSzPct val="100000"/>
              <a:buChar char="•"/>
            </a:pPr>
            <a:r>
              <a:rPr lang="en-US" sz="1200" dirty="0">
                <a:solidFill>
                  <a:srgbClr val="27374D"/>
                </a:solidFill>
              </a:rPr>
              <a:t>질문과 함께 아이의 월령·성별·최근 기록이 맥락으로 전달 → "우리 아이" 기준의 답</a:t>
            </a:r>
            <a:endParaRPr lang="en-US" sz="1200" dirty="0"/>
          </a:p>
          <a:p>
            <a:pPr marL="127000" indent="-127000">
              <a:lnSpc>
                <a:spcPct val="112000"/>
              </a:lnSpc>
              <a:spcAft>
                <a:spcPts val="600"/>
              </a:spcAft>
              <a:buSzPct val="100000"/>
              <a:buChar char="•"/>
            </a:pPr>
            <a:r>
              <a:rPr lang="en-US" sz="1200" dirty="0">
                <a:solidFill>
                  <a:srgbClr val="27374D"/>
                </a:solidFill>
              </a:rPr>
              <a:t>방금 그 38.2℃ 기록을 답이 직접 짚습니다</a:t>
            </a:r>
            <a:endParaRPr lang="en-US" sz="1200" dirty="0"/>
          </a:p>
          <a:p>
            <a:pPr marL="127000" indent="-127000">
              <a:lnSpc>
                <a:spcPct val="112000"/>
              </a:lnSpc>
              <a:spcAft>
                <a:spcPts val="600"/>
              </a:spcAft>
              <a:buSzPct val="100000"/>
              <a:buChar char="•"/>
            </a:pPr>
            <a:r>
              <a:rPr lang="en-US" sz="1200" dirty="0">
                <a:solidFill>
                  <a:srgbClr val="27374D"/>
                </a:solidFill>
              </a:rPr>
              <a:t>진단명·약품명 언급, 판정 변경은 제한</a:t>
            </a:r>
            <a:endParaRPr lang="en-US" sz="1200" dirty="0"/>
          </a:p>
        </p:txBody>
      </p:sp>
      <p:sp>
        <p:nvSpPr>
          <p:cNvPr id="6" name="Text 4"/>
          <p:cNvSpPr txBox="1"/>
          <p:nvPr/>
        </p:nvSpPr>
        <p:spPr>
          <a:xfrm>
            <a:off x="841248" y="3246120"/>
            <a:ext cx="3657600" cy="320040"/>
          </a:xfrm>
          <a:prstGeom prst="rect">
            <a:avLst/>
          </a:prstGeom>
          <a:noFill/>
          <a:ln/>
        </p:spPr>
        <p:txBody>
          <a:bodyPr wrap="square" lIns="0" tIns="0" rIns="0" bIns="0" rtlCol="0" anchor="ctr"/>
          <a:lstStyle/>
          <a:p>
            <a:pPr indent="0" marL="0">
              <a:buNone/>
            </a:pPr>
            <a:r>
              <a:rPr lang="en-US" sz="1350" b="1" dirty="0">
                <a:solidFill>
                  <a:srgbClr val="E96A50"/>
                </a:solidFill>
              </a:rPr>
              <a:t>피부 살펴보기</a:t>
            </a:r>
            <a:endParaRPr lang="en-US" sz="1350" dirty="0"/>
          </a:p>
        </p:txBody>
      </p:sp>
      <p:sp>
        <p:nvSpPr>
          <p:cNvPr id="7" name="Text 5"/>
          <p:cNvSpPr txBox="1"/>
          <p:nvPr/>
        </p:nvSpPr>
        <p:spPr>
          <a:xfrm>
            <a:off x="841248" y="3593592"/>
            <a:ext cx="6675120" cy="1371600"/>
          </a:xfrm>
          <a:prstGeom prst="rect">
            <a:avLst/>
          </a:prstGeom>
          <a:noFill/>
          <a:ln/>
        </p:spPr>
        <p:txBody>
          <a:bodyPr wrap="square" lIns="0" tIns="0" rIns="0" bIns="0" rtlCol="0" anchor="t"/>
          <a:lstStyle/>
          <a:p>
            <a:pPr marL="127000" indent="-127000">
              <a:lnSpc>
                <a:spcPct val="112000"/>
              </a:lnSpc>
              <a:spcAft>
                <a:spcPts val="600"/>
              </a:spcAft>
              <a:buSzPct val="100000"/>
              <a:buChar char="•"/>
            </a:pPr>
            <a:r>
              <a:rPr lang="en-US" sz="1200" dirty="0">
                <a:solidFill>
                  <a:srgbClr val="27374D"/>
                </a:solidFill>
              </a:rPr>
              <a:t>병명 없이 — 관찰되는 특징과 상담 필요 여부만</a:t>
            </a:r>
            <a:endParaRPr lang="en-US" sz="1200" dirty="0"/>
          </a:p>
          <a:p>
            <a:pPr marL="127000" indent="-127000">
              <a:lnSpc>
                <a:spcPct val="112000"/>
              </a:lnSpc>
              <a:spcAft>
                <a:spcPts val="600"/>
              </a:spcAft>
              <a:buSzPct val="100000"/>
              <a:buChar char="•"/>
            </a:pPr>
            <a:r>
              <a:rPr lang="en-US" sz="1200" dirty="0">
                <a:solidFill>
                  <a:srgbClr val="27374D"/>
                </a:solidFill>
              </a:rPr>
              <a:t>사진과 함께 최근 12시간 발열 여부 동봉 (열은 사진에 찍히지 않으므로)</a:t>
            </a:r>
            <a:endParaRPr lang="en-US" sz="1200" dirty="0"/>
          </a:p>
          <a:p>
            <a:pPr marL="127000" indent="-127000">
              <a:lnSpc>
                <a:spcPct val="112000"/>
              </a:lnSpc>
              <a:spcAft>
                <a:spcPts val="600"/>
              </a:spcAft>
              <a:buSzPct val="100000"/>
              <a:buChar char="•"/>
            </a:pPr>
            <a:r>
              <a:rPr lang="en-US" sz="1200" dirty="0">
                <a:solidFill>
                  <a:srgbClr val="27374D"/>
                </a:solidFill>
              </a:rPr>
              <a:t>사진은 판독에만 쓰고 저장하지 않음 — 아이 사진이라 처음부터 그렇게 설계</a:t>
            </a:r>
            <a:endParaRPr lang="en-US" sz="1200" dirty="0"/>
          </a:p>
        </p:txBody>
      </p:sp>
      <p:sp>
        <p:nvSpPr>
          <p:cNvPr id="8" name="Shape 6"/>
          <p:cNvSpPr/>
          <p:nvPr/>
        </p:nvSpPr>
        <p:spPr>
          <a:xfrm>
            <a:off x="822960" y="5166360"/>
            <a:ext cx="6720840" cy="777240"/>
          </a:xfrm>
          <a:prstGeom prst="roundRect">
            <a:avLst>
              <a:gd name="adj" fmla="val 8235"/>
            </a:avLst>
          </a:prstGeom>
          <a:solidFill>
            <a:srgbClr val="FAE3DC"/>
          </a:solidFill>
          <a:ln w="12700">
            <a:solidFill>
              <a:srgbClr val="FAE3DC"/>
            </a:solidFill>
            <a:prstDash val="solid"/>
          </a:ln>
        </p:spPr>
      </p:sp>
      <p:sp>
        <p:nvSpPr>
          <p:cNvPr id="9" name="Text 7"/>
          <p:cNvSpPr txBox="1"/>
          <p:nvPr/>
        </p:nvSpPr>
        <p:spPr>
          <a:xfrm>
            <a:off x="1005840" y="5166360"/>
            <a:ext cx="6400800" cy="777240"/>
          </a:xfrm>
          <a:prstGeom prst="rect">
            <a:avLst/>
          </a:prstGeom>
          <a:noFill/>
          <a:ln/>
        </p:spPr>
        <p:txBody>
          <a:bodyPr wrap="square" lIns="0" tIns="0" rIns="0" bIns="0" rtlCol="0" anchor="ctr"/>
          <a:lstStyle/>
          <a:p>
            <a:pPr indent="0" marL="0">
              <a:buNone/>
            </a:pPr>
            <a:r>
              <a:rPr lang="en-US" sz="1250" b="1" dirty="0">
                <a:solidFill>
                  <a:srgbClr val="27374D"/>
                </a:solidFill>
              </a:rPr>
              <a:t>왜 이미지 분류 모델(CNN)이 아닐까?  </a:t>
            </a:r>
            <a:pPr indent="0" marL="0">
              <a:buNone/>
            </a:pPr>
            <a:r>
              <a:rPr lang="en-US" sz="1250" b="1" dirty="0">
                <a:solidFill>
                  <a:srgbClr val="E96A50"/>
                </a:solidFill>
              </a:rPr>
              <a:t>→ 잠시 뒤, 슬라이드 8에서</a:t>
            </a:r>
            <a:endParaRPr lang="en-US" sz="1250" dirty="0"/>
          </a:p>
        </p:txBody>
      </p:sp>
      <p:sp>
        <p:nvSpPr>
          <p:cNvPr id="10" name="Shape 8"/>
          <p:cNvSpPr/>
          <p:nvPr/>
        </p:nvSpPr>
        <p:spPr>
          <a:xfrm>
            <a:off x="7818120"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1" name="Shape 9"/>
          <p:cNvSpPr/>
          <p:nvPr/>
        </p:nvSpPr>
        <p:spPr>
          <a:xfrm>
            <a:off x="7882128" y="1527048"/>
            <a:ext cx="1655064" cy="3739896"/>
          </a:xfrm>
          <a:prstGeom prst="roundRect">
            <a:avLst>
              <a:gd name="adj" fmla="val 3315"/>
            </a:avLst>
          </a:prstGeom>
          <a:solidFill>
            <a:srgbClr val="FBF5EE"/>
          </a:solidFill>
          <a:ln w="9525">
            <a:solidFill>
              <a:srgbClr val="5C6B7A"/>
            </a:solidFill>
            <a:prstDash val="dash"/>
          </a:ln>
        </p:spPr>
      </p:sp>
      <p:sp>
        <p:nvSpPr>
          <p:cNvPr id="12" name="Text 10"/>
          <p:cNvSpPr txBox="1"/>
          <p:nvPr/>
        </p:nvSpPr>
        <p:spPr>
          <a:xfrm>
            <a:off x="7909560"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04-chat.png
</a:t>
            </a:r>
            <a:pPr algn="ctr" indent="0" marL="0">
              <a:buNone/>
            </a:pPr>
            <a:r>
              <a:rPr lang="en-US" sz="850" dirty="0">
                <a:solidFill>
                  <a:srgbClr val="5C6B7A"/>
                </a:solidFill>
              </a:rPr>
              <a:t>AI 상담 — 발열 질문과 답변</a:t>
            </a:r>
            <a:endParaRPr lang="en-US" sz="850" dirty="0"/>
          </a:p>
        </p:txBody>
      </p:sp>
      <p:sp>
        <p:nvSpPr>
          <p:cNvPr id="13" name="Shape 11"/>
          <p:cNvSpPr/>
          <p:nvPr/>
        </p:nvSpPr>
        <p:spPr>
          <a:xfrm>
            <a:off x="9710928"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4" name="Shape 12"/>
          <p:cNvSpPr/>
          <p:nvPr/>
        </p:nvSpPr>
        <p:spPr>
          <a:xfrm>
            <a:off x="9774936" y="1527048"/>
            <a:ext cx="1655064" cy="3739896"/>
          </a:xfrm>
          <a:prstGeom prst="roundRect">
            <a:avLst>
              <a:gd name="adj" fmla="val 3315"/>
            </a:avLst>
          </a:prstGeom>
          <a:solidFill>
            <a:srgbClr val="FBF5EE"/>
          </a:solidFill>
          <a:ln w="9525">
            <a:solidFill>
              <a:srgbClr val="5C6B7A"/>
            </a:solidFill>
            <a:prstDash val="dash"/>
          </a:ln>
        </p:spPr>
      </p:sp>
      <p:sp>
        <p:nvSpPr>
          <p:cNvPr id="15" name="Text 13"/>
          <p:cNvSpPr txBox="1"/>
          <p:nvPr/>
        </p:nvSpPr>
        <p:spPr>
          <a:xfrm>
            <a:off x="9802368"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02-skin.png
</a:t>
            </a:r>
            <a:pPr algn="ctr" indent="0" marL="0">
              <a:buNone/>
            </a:pPr>
            <a:r>
              <a:rPr lang="en-US" sz="850" dirty="0">
                <a:solidFill>
                  <a:srgbClr val="5C6B7A"/>
                </a:solidFill>
              </a:rPr>
              <a:t>피부 살펴보기 결과</a:t>
            </a:r>
            <a:endParaRPr lang="en-US" sz="85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기능 ③ 기록 · 함께 키우기</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하루를 한 바퀴로, 육아를 함께</a:t>
            </a:r>
            <a:endParaRPr lang="en-US" sz="2600" dirty="0"/>
          </a:p>
        </p:txBody>
      </p:sp>
      <p:sp>
        <p:nvSpPr>
          <p:cNvPr id="4" name="Text 2"/>
          <p:cNvSpPr txBox="1"/>
          <p:nvPr/>
        </p:nvSpPr>
        <p:spPr>
          <a:xfrm>
            <a:off x="841248" y="1600200"/>
            <a:ext cx="6675120" cy="2103120"/>
          </a:xfrm>
          <a:prstGeom prst="rect">
            <a:avLst/>
          </a:prstGeom>
          <a:noFill/>
          <a:ln/>
        </p:spPr>
        <p:txBody>
          <a:bodyPr wrap="square" lIns="0" tIns="0" rIns="0" bIns="0" rtlCol="0" anchor="t"/>
          <a:lstStyle/>
          <a:p>
            <a:pPr marL="127000" indent="-127000">
              <a:lnSpc>
                <a:spcPct val="112000"/>
              </a:lnSpc>
              <a:spcAft>
                <a:spcPts val="900"/>
              </a:spcAft>
              <a:buSzPct val="100000"/>
              <a:buChar char="•"/>
            </a:pPr>
            <a:r>
              <a:rPr lang="en-US" sz="1250" dirty="0">
                <a:solidFill>
                  <a:srgbClr val="27374D"/>
                </a:solidFill>
              </a:rPr>
              <a:t>수유 · 수면 · 배변 · 투약 · 예방접종 기록</a:t>
            </a:r>
            <a:endParaRPr lang="en-US" sz="1250" dirty="0"/>
          </a:p>
          <a:p>
            <a:pPr marL="127000" indent="-127000">
              <a:lnSpc>
                <a:spcPct val="112000"/>
              </a:lnSpc>
              <a:spcAft>
                <a:spcPts val="900"/>
              </a:spcAft>
              <a:buSzPct val="100000"/>
              <a:buChar char="•"/>
            </a:pPr>
            <a:r>
              <a:rPr lang="en-US" sz="1250" dirty="0">
                <a:solidFill>
                  <a:srgbClr val="27374D"/>
                </a:solidFill>
              </a:rPr>
              <a:t>24시간 원형 도표 — 하루가 한눈에 · 7일 추이와 하루 평균</a:t>
            </a:r>
            <a:endParaRPr lang="en-US" sz="1250" dirty="0"/>
          </a:p>
          <a:p>
            <a:pPr marL="127000" indent="-127000">
              <a:lnSpc>
                <a:spcPct val="112000"/>
              </a:lnSpc>
              <a:spcAft>
                <a:spcPts val="900"/>
              </a:spcAft>
              <a:buSzPct val="100000"/>
              <a:buChar char="•"/>
            </a:pPr>
            <a:r>
              <a:rPr lang="en-US" sz="1250" dirty="0">
                <a:solidFill>
                  <a:srgbClr val="27374D"/>
                </a:solidFill>
              </a:rPr>
              <a:t>8자리 초대 코드로 배우자·조부모와 기록 공유</a:t>
            </a:r>
            <a:endParaRPr lang="en-US" sz="1250" dirty="0"/>
          </a:p>
          <a:p>
            <a:pPr marL="127000" indent="-127000">
              <a:lnSpc>
                <a:spcPct val="112000"/>
              </a:lnSpc>
              <a:spcAft>
                <a:spcPts val="900"/>
              </a:spcAft>
              <a:buSzPct val="100000"/>
              <a:buChar char="•"/>
            </a:pPr>
            <a:r>
              <a:rPr lang="en-US" sz="1250" dirty="0">
                <a:solidFill>
                  <a:srgbClr val="27374D"/>
                </a:solidFill>
              </a:rPr>
              <a:t>예방접종 시기 · 수유 시간 알림 (Firebase Cloud Messaging)</a:t>
            </a:r>
            <a:endParaRPr lang="en-US" sz="1250" dirty="0"/>
          </a:p>
        </p:txBody>
      </p:sp>
      <p:sp>
        <p:nvSpPr>
          <p:cNvPr id="5" name="Shape 3"/>
          <p:cNvSpPr/>
          <p:nvPr/>
        </p:nvSpPr>
        <p:spPr>
          <a:xfrm>
            <a:off x="822960" y="3977640"/>
            <a:ext cx="6720840" cy="822960"/>
          </a:xfrm>
          <a:prstGeom prst="roundRect">
            <a:avLst>
              <a:gd name="adj" fmla="val 7778"/>
            </a:avLst>
          </a:prstGeom>
          <a:solidFill>
            <a:srgbClr val="FFFFFF"/>
          </a:solidFill>
          <a:ln w="9525">
            <a:solidFill>
              <a:srgbClr val="E3D7C8"/>
            </a:solidFill>
            <a:prstDash val="solid"/>
          </a:ln>
        </p:spPr>
      </p:sp>
      <p:sp>
        <p:nvSpPr>
          <p:cNvPr id="6" name="Text 4"/>
          <p:cNvSpPr txBox="1"/>
          <p:nvPr/>
        </p:nvSpPr>
        <p:spPr>
          <a:xfrm>
            <a:off x="1005840" y="3977640"/>
            <a:ext cx="6400800" cy="822960"/>
          </a:xfrm>
          <a:prstGeom prst="rect">
            <a:avLst/>
          </a:prstGeom>
          <a:noFill/>
          <a:ln/>
        </p:spPr>
        <p:txBody>
          <a:bodyPr wrap="square" lIns="0" tIns="0" rIns="0" bIns="0" rtlCol="0" anchor="ctr"/>
          <a:lstStyle/>
          <a:p>
            <a:pPr indent="0" marL="0">
              <a:buNone/>
            </a:pPr>
            <a:r>
              <a:rPr lang="en-US" sz="1150" b="1" dirty="0">
                <a:solidFill>
                  <a:srgbClr val="E96A50"/>
                </a:solidFill>
              </a:rPr>
              <a:t>디테일 — </a:t>
            </a:r>
            <a:pPr indent="0" marL="0">
              <a:buNone/>
            </a:pPr>
            <a:r>
              <a:rPr lang="en-US" sz="1150" dirty="0">
                <a:solidFill>
                  <a:srgbClr val="27374D"/>
                </a:solidFill>
              </a:rPr>
              <a:t>로그아웃하면 기기 알림 토큰을 정리합니다. 다음 사용자에게 앞사람 아이의 이름이 뜨지 않게.</a:t>
            </a:r>
            <a:endParaRPr lang="en-US" sz="1150" dirty="0"/>
          </a:p>
        </p:txBody>
      </p:sp>
      <p:sp>
        <p:nvSpPr>
          <p:cNvPr id="7" name="Text 5"/>
          <p:cNvSpPr txBox="1"/>
          <p:nvPr/>
        </p:nvSpPr>
        <p:spPr>
          <a:xfrm>
            <a:off x="841248" y="5120640"/>
            <a:ext cx="6675120" cy="365760"/>
          </a:xfrm>
          <a:prstGeom prst="rect">
            <a:avLst/>
          </a:prstGeom>
          <a:noFill/>
          <a:ln/>
        </p:spPr>
        <p:txBody>
          <a:bodyPr wrap="square" lIns="0" tIns="0" rIns="0" bIns="0" rtlCol="0" anchor="ctr"/>
          <a:lstStyle/>
          <a:p>
            <a:pPr indent="0" marL="0">
              <a:buNone/>
            </a:pPr>
            <a:r>
              <a:rPr lang="en-US" sz="1300" b="1" i="1" dirty="0">
                <a:solidFill>
                  <a:srgbClr val="E96A50"/>
                </a:solidFill>
              </a:rPr>
              <a:t>새벽의 발열 기록을, 아침의 배우자가 그대로 봅니다</a:t>
            </a:r>
            <a:endParaRPr lang="en-US" sz="1300" dirty="0"/>
          </a:p>
        </p:txBody>
      </p:sp>
      <p:sp>
        <p:nvSpPr>
          <p:cNvPr id="8" name="Shape 6"/>
          <p:cNvSpPr/>
          <p:nvPr/>
        </p:nvSpPr>
        <p:spPr>
          <a:xfrm>
            <a:off x="7818120"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9" name="Shape 7"/>
          <p:cNvSpPr/>
          <p:nvPr/>
        </p:nvSpPr>
        <p:spPr>
          <a:xfrm>
            <a:off x="7882128" y="1527048"/>
            <a:ext cx="1655064" cy="3739896"/>
          </a:xfrm>
          <a:prstGeom prst="roundRect">
            <a:avLst>
              <a:gd name="adj" fmla="val 3315"/>
            </a:avLst>
          </a:prstGeom>
          <a:solidFill>
            <a:srgbClr val="FBF5EE"/>
          </a:solidFill>
          <a:ln w="9525">
            <a:solidFill>
              <a:srgbClr val="5C6B7A"/>
            </a:solidFill>
            <a:prstDash val="dash"/>
          </a:ln>
        </p:spPr>
      </p:sp>
      <p:sp>
        <p:nvSpPr>
          <p:cNvPr id="10" name="Text 8"/>
          <p:cNvSpPr txBox="1"/>
          <p:nvPr/>
        </p:nvSpPr>
        <p:spPr>
          <a:xfrm>
            <a:off x="7909560"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06-day-ring.png
</a:t>
            </a:r>
            <a:pPr algn="ctr" indent="0" marL="0">
              <a:buNone/>
            </a:pPr>
            <a:r>
              <a:rPr lang="en-US" sz="850" dirty="0">
                <a:solidFill>
                  <a:srgbClr val="5C6B7A"/>
                </a:solidFill>
              </a:rPr>
              <a:t>24시간 원형 도표</a:t>
            </a:r>
            <a:endParaRPr lang="en-US" sz="850" dirty="0"/>
          </a:p>
        </p:txBody>
      </p:sp>
      <p:sp>
        <p:nvSpPr>
          <p:cNvPr id="11" name="Shape 9"/>
          <p:cNvSpPr/>
          <p:nvPr/>
        </p:nvSpPr>
        <p:spPr>
          <a:xfrm>
            <a:off x="9710928" y="1463040"/>
            <a:ext cx="1783080" cy="3867912"/>
          </a:xfrm>
          <a:prstGeom prst="roundRect">
            <a:avLst>
              <a:gd name="adj" fmla="val 5128"/>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2" name="Shape 10"/>
          <p:cNvSpPr/>
          <p:nvPr/>
        </p:nvSpPr>
        <p:spPr>
          <a:xfrm>
            <a:off x="9774936" y="1527048"/>
            <a:ext cx="1655064" cy="3739896"/>
          </a:xfrm>
          <a:prstGeom prst="roundRect">
            <a:avLst>
              <a:gd name="adj" fmla="val 3315"/>
            </a:avLst>
          </a:prstGeom>
          <a:solidFill>
            <a:srgbClr val="FBF5EE"/>
          </a:solidFill>
          <a:ln w="9525">
            <a:solidFill>
              <a:srgbClr val="5C6B7A"/>
            </a:solidFill>
            <a:prstDash val="dash"/>
          </a:ln>
        </p:spPr>
      </p:sp>
      <p:sp>
        <p:nvSpPr>
          <p:cNvPr id="13" name="Text 11"/>
          <p:cNvSpPr txBox="1"/>
          <p:nvPr/>
        </p:nvSpPr>
        <p:spPr>
          <a:xfrm>
            <a:off x="9802368" y="2848356"/>
            <a:ext cx="160020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09-invite.png
</a:t>
            </a:r>
            <a:pPr algn="ctr" indent="0" marL="0">
              <a:buNone/>
            </a:pPr>
            <a:r>
              <a:rPr lang="en-US" sz="850" dirty="0">
                <a:solidFill>
                  <a:srgbClr val="5C6B7A"/>
                </a:solidFill>
              </a:rPr>
              <a:t>함께 키우기 초대 코드</a:t>
            </a:r>
            <a:endParaRPr lang="en-US" sz="85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시스템 아키텍처</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네 계층, 그리고 담당</a:t>
            </a:r>
            <a:endParaRPr lang="en-US" sz="2600" dirty="0"/>
          </a:p>
        </p:txBody>
      </p:sp>
      <p:sp>
        <p:nvSpPr>
          <p:cNvPr id="4" name="Shape 2"/>
          <p:cNvSpPr/>
          <p:nvPr/>
        </p:nvSpPr>
        <p:spPr>
          <a:xfrm>
            <a:off x="822960" y="1481328"/>
            <a:ext cx="7406640" cy="932688"/>
          </a:xfrm>
          <a:prstGeom prst="roundRect">
            <a:avLst>
              <a:gd name="adj" fmla="val 686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Shape 3"/>
          <p:cNvSpPr/>
          <p:nvPr/>
        </p:nvSpPr>
        <p:spPr>
          <a:xfrm>
            <a:off x="822960" y="1481328"/>
            <a:ext cx="128016" cy="932688"/>
          </a:xfrm>
          <a:prstGeom prst="roundRect">
            <a:avLst>
              <a:gd name="adj" fmla="val 35714"/>
            </a:avLst>
          </a:prstGeom>
          <a:solidFill>
            <a:srgbClr val="5B87A8"/>
          </a:solidFill>
          <a:ln w="12700">
            <a:solidFill>
              <a:srgbClr val="5B87A8"/>
            </a:solidFill>
            <a:prstDash val="solid"/>
          </a:ln>
        </p:spPr>
      </p:sp>
      <p:sp>
        <p:nvSpPr>
          <p:cNvPr id="6" name="Text 4"/>
          <p:cNvSpPr txBox="1"/>
          <p:nvPr/>
        </p:nvSpPr>
        <p:spPr>
          <a:xfrm>
            <a:off x="1097280" y="1572768"/>
            <a:ext cx="1920240" cy="365760"/>
          </a:xfrm>
          <a:prstGeom prst="rect">
            <a:avLst/>
          </a:prstGeom>
          <a:noFill/>
          <a:ln/>
        </p:spPr>
        <p:txBody>
          <a:bodyPr wrap="square" lIns="0" tIns="0" rIns="0" bIns="0" rtlCol="0" anchor="ctr"/>
          <a:lstStyle/>
          <a:p>
            <a:pPr indent="0" marL="0">
              <a:buNone/>
            </a:pPr>
            <a:r>
              <a:rPr lang="en-US" sz="1350" b="1" dirty="0">
                <a:solidFill>
                  <a:srgbClr val="27374D"/>
                </a:solidFill>
              </a:rPr>
              <a:t>클라이언트</a:t>
            </a:r>
            <a:endParaRPr lang="en-US" sz="1350" dirty="0"/>
          </a:p>
        </p:txBody>
      </p:sp>
      <p:sp>
        <p:nvSpPr>
          <p:cNvPr id="7" name="Text 5"/>
          <p:cNvSpPr txBox="1"/>
          <p:nvPr/>
        </p:nvSpPr>
        <p:spPr>
          <a:xfrm>
            <a:off x="1097280" y="1920240"/>
            <a:ext cx="5120640" cy="457200"/>
          </a:xfrm>
          <a:prstGeom prst="rect">
            <a:avLst/>
          </a:prstGeom>
          <a:noFill/>
          <a:ln/>
        </p:spPr>
        <p:txBody>
          <a:bodyPr wrap="square" lIns="0" tIns="0" rIns="0" bIns="0" rtlCol="0" anchor="ctr"/>
          <a:lstStyle/>
          <a:p>
            <a:pPr indent="0" marL="0">
              <a:buNone/>
            </a:pPr>
            <a:r>
              <a:rPr lang="en-US" sz="980" dirty="0">
                <a:solidFill>
                  <a:srgbClr val="5C6B7A"/>
                </a:solidFill>
              </a:rPr>
              <a:t>Flutter (iOS·Android 단일 코드) · 카카오/구글 간편 로그인 · 단순 기록은 DB 직행</a:t>
            </a:r>
            <a:endParaRPr lang="en-US" sz="980" dirty="0"/>
          </a:p>
        </p:txBody>
      </p:sp>
      <p:sp>
        <p:nvSpPr>
          <p:cNvPr id="8" name="Shape 6"/>
          <p:cNvSpPr/>
          <p:nvPr/>
        </p:nvSpPr>
        <p:spPr>
          <a:xfrm>
            <a:off x="6492240" y="1737360"/>
            <a:ext cx="1572768" cy="420624"/>
          </a:xfrm>
          <a:prstGeom prst="roundRect">
            <a:avLst>
              <a:gd name="adj" fmla="val 50000"/>
            </a:avLst>
          </a:prstGeom>
          <a:solidFill>
            <a:srgbClr val="FAE3DC"/>
          </a:solidFill>
          <a:ln w="12700">
            <a:solidFill>
              <a:srgbClr val="FAE3DC"/>
            </a:solidFill>
            <a:prstDash val="solid"/>
          </a:ln>
        </p:spPr>
      </p:sp>
      <p:sp>
        <p:nvSpPr>
          <p:cNvPr id="9" name="Text 7"/>
          <p:cNvSpPr txBox="1"/>
          <p:nvPr/>
        </p:nvSpPr>
        <p:spPr>
          <a:xfrm>
            <a:off x="6492240" y="1737360"/>
            <a:ext cx="1572768" cy="420624"/>
          </a:xfrm>
          <a:prstGeom prst="rect">
            <a:avLst/>
          </a:prstGeom>
          <a:noFill/>
          <a:ln/>
        </p:spPr>
        <p:txBody>
          <a:bodyPr wrap="square" lIns="0" tIns="0" rIns="0" bIns="0" rtlCol="0" anchor="ctr"/>
          <a:lstStyle/>
          <a:p>
            <a:pPr algn="ctr" indent="0" marL="0">
              <a:buNone/>
            </a:pPr>
            <a:r>
              <a:rPr lang="en-US" sz="1000" b="1" dirty="0">
                <a:solidFill>
                  <a:srgbClr val="27374D"/>
                </a:solidFill>
              </a:rPr>
              <a:t>유승환 · 박시은</a:t>
            </a:r>
            <a:endParaRPr lang="en-US" sz="1000" dirty="0"/>
          </a:p>
        </p:txBody>
      </p:sp>
      <p:sp>
        <p:nvSpPr>
          <p:cNvPr id="10" name="Shape 8"/>
          <p:cNvSpPr/>
          <p:nvPr/>
        </p:nvSpPr>
        <p:spPr>
          <a:xfrm>
            <a:off x="822960" y="2560320"/>
            <a:ext cx="7406640" cy="932688"/>
          </a:xfrm>
          <a:prstGeom prst="roundRect">
            <a:avLst>
              <a:gd name="adj" fmla="val 686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1" name="Shape 9"/>
          <p:cNvSpPr/>
          <p:nvPr/>
        </p:nvSpPr>
        <p:spPr>
          <a:xfrm>
            <a:off x="822960" y="2560320"/>
            <a:ext cx="128016" cy="932688"/>
          </a:xfrm>
          <a:prstGeom prst="roundRect">
            <a:avLst>
              <a:gd name="adj" fmla="val 35714"/>
            </a:avLst>
          </a:prstGeom>
          <a:solidFill>
            <a:srgbClr val="E96A50"/>
          </a:solidFill>
          <a:ln w="12700">
            <a:solidFill>
              <a:srgbClr val="E96A50"/>
            </a:solidFill>
            <a:prstDash val="solid"/>
          </a:ln>
        </p:spPr>
      </p:sp>
      <p:sp>
        <p:nvSpPr>
          <p:cNvPr id="12" name="Text 10"/>
          <p:cNvSpPr txBox="1"/>
          <p:nvPr/>
        </p:nvSpPr>
        <p:spPr>
          <a:xfrm>
            <a:off x="1097280" y="2651760"/>
            <a:ext cx="1920240" cy="365760"/>
          </a:xfrm>
          <a:prstGeom prst="rect">
            <a:avLst/>
          </a:prstGeom>
          <a:noFill/>
          <a:ln/>
        </p:spPr>
        <p:txBody>
          <a:bodyPr wrap="square" lIns="0" tIns="0" rIns="0" bIns="0" rtlCol="0" anchor="ctr"/>
          <a:lstStyle/>
          <a:p>
            <a:pPr indent="0" marL="0">
              <a:buNone/>
            </a:pPr>
            <a:r>
              <a:rPr lang="en-US" sz="1350" b="1" dirty="0">
                <a:solidFill>
                  <a:srgbClr val="27374D"/>
                </a:solidFill>
              </a:rPr>
              <a:t>애플리케이션</a:t>
            </a:r>
            <a:endParaRPr lang="en-US" sz="1350" dirty="0"/>
          </a:p>
        </p:txBody>
      </p:sp>
      <p:sp>
        <p:nvSpPr>
          <p:cNvPr id="13" name="Text 11"/>
          <p:cNvSpPr txBox="1"/>
          <p:nvPr/>
        </p:nvSpPr>
        <p:spPr>
          <a:xfrm>
            <a:off x="1097280" y="2999232"/>
            <a:ext cx="5120640" cy="457200"/>
          </a:xfrm>
          <a:prstGeom prst="rect">
            <a:avLst/>
          </a:prstGeom>
          <a:noFill/>
          <a:ln/>
        </p:spPr>
        <p:txBody>
          <a:bodyPr wrap="square" lIns="0" tIns="0" rIns="0" bIns="0" rtlCol="0" anchor="ctr"/>
          <a:lstStyle/>
          <a:p>
            <a:pPr indent="0" marL="0">
              <a:buNone/>
            </a:pPr>
            <a:r>
              <a:rPr lang="en-US" sz="980" dirty="0">
                <a:solidFill>
                  <a:srgbClr val="5C6B7A"/>
                </a:solidFill>
              </a:rPr>
              <a:t>FastAPI 통합 백엔드 (EC2 실배포) — 상담·피부 두 요청만 경유 · 인증 · 호출 상한 · API 키 보호</a:t>
            </a:r>
            <a:endParaRPr lang="en-US" sz="980" dirty="0"/>
          </a:p>
        </p:txBody>
      </p:sp>
      <p:sp>
        <p:nvSpPr>
          <p:cNvPr id="14" name="Shape 12"/>
          <p:cNvSpPr/>
          <p:nvPr/>
        </p:nvSpPr>
        <p:spPr>
          <a:xfrm>
            <a:off x="6492240" y="2816352"/>
            <a:ext cx="1572768" cy="420624"/>
          </a:xfrm>
          <a:prstGeom prst="roundRect">
            <a:avLst>
              <a:gd name="adj" fmla="val 50000"/>
            </a:avLst>
          </a:prstGeom>
          <a:solidFill>
            <a:srgbClr val="FAE3DC"/>
          </a:solidFill>
          <a:ln w="12700">
            <a:solidFill>
              <a:srgbClr val="FAE3DC"/>
            </a:solidFill>
            <a:prstDash val="solid"/>
          </a:ln>
        </p:spPr>
      </p:sp>
      <p:sp>
        <p:nvSpPr>
          <p:cNvPr id="15" name="Text 13"/>
          <p:cNvSpPr txBox="1"/>
          <p:nvPr/>
        </p:nvSpPr>
        <p:spPr>
          <a:xfrm>
            <a:off x="6492240" y="2816352"/>
            <a:ext cx="1572768" cy="420624"/>
          </a:xfrm>
          <a:prstGeom prst="rect">
            <a:avLst/>
          </a:prstGeom>
          <a:noFill/>
          <a:ln/>
        </p:spPr>
        <p:txBody>
          <a:bodyPr wrap="square" lIns="0" tIns="0" rIns="0" bIns="0" rtlCol="0" anchor="ctr"/>
          <a:lstStyle/>
          <a:p>
            <a:pPr algn="ctr" indent="0" marL="0">
              <a:buNone/>
            </a:pPr>
            <a:r>
              <a:rPr lang="en-US" sz="1000" b="1" dirty="0">
                <a:solidFill>
                  <a:srgbClr val="27374D"/>
                </a:solidFill>
              </a:rPr>
              <a:t>이하늘</a:t>
            </a:r>
            <a:endParaRPr lang="en-US" sz="1000" dirty="0"/>
          </a:p>
        </p:txBody>
      </p:sp>
      <p:sp>
        <p:nvSpPr>
          <p:cNvPr id="16" name="Shape 14"/>
          <p:cNvSpPr/>
          <p:nvPr/>
        </p:nvSpPr>
        <p:spPr>
          <a:xfrm>
            <a:off x="822960" y="3639312"/>
            <a:ext cx="7406640" cy="932688"/>
          </a:xfrm>
          <a:prstGeom prst="roundRect">
            <a:avLst>
              <a:gd name="adj" fmla="val 686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7" name="Shape 15"/>
          <p:cNvSpPr/>
          <p:nvPr/>
        </p:nvSpPr>
        <p:spPr>
          <a:xfrm>
            <a:off x="822960" y="3639312"/>
            <a:ext cx="128016" cy="932688"/>
          </a:xfrm>
          <a:prstGeom prst="roundRect">
            <a:avLst>
              <a:gd name="adj" fmla="val 35714"/>
            </a:avLst>
          </a:prstGeom>
          <a:solidFill>
            <a:srgbClr val="8FAE9B"/>
          </a:solidFill>
          <a:ln w="12700">
            <a:solidFill>
              <a:srgbClr val="8FAE9B"/>
            </a:solidFill>
            <a:prstDash val="solid"/>
          </a:ln>
        </p:spPr>
      </p:sp>
      <p:sp>
        <p:nvSpPr>
          <p:cNvPr id="18" name="Text 16"/>
          <p:cNvSpPr txBox="1"/>
          <p:nvPr/>
        </p:nvSpPr>
        <p:spPr>
          <a:xfrm>
            <a:off x="1097280" y="3730752"/>
            <a:ext cx="1920240" cy="365760"/>
          </a:xfrm>
          <a:prstGeom prst="rect">
            <a:avLst/>
          </a:prstGeom>
          <a:noFill/>
          <a:ln/>
        </p:spPr>
        <p:txBody>
          <a:bodyPr wrap="square" lIns="0" tIns="0" rIns="0" bIns="0" rtlCol="0" anchor="ctr"/>
          <a:lstStyle/>
          <a:p>
            <a:pPr indent="0" marL="0">
              <a:buNone/>
            </a:pPr>
            <a:r>
              <a:rPr lang="en-US" sz="1350" b="1" dirty="0">
                <a:solidFill>
                  <a:srgbClr val="27374D"/>
                </a:solidFill>
              </a:rPr>
              <a:t>분석</a:t>
            </a:r>
            <a:endParaRPr lang="en-US" sz="1350" dirty="0"/>
          </a:p>
        </p:txBody>
      </p:sp>
      <p:sp>
        <p:nvSpPr>
          <p:cNvPr id="19" name="Text 17"/>
          <p:cNvSpPr txBox="1"/>
          <p:nvPr/>
        </p:nvSpPr>
        <p:spPr>
          <a:xfrm>
            <a:off x="1097280" y="4078224"/>
            <a:ext cx="5120640" cy="457200"/>
          </a:xfrm>
          <a:prstGeom prst="rect">
            <a:avLst/>
          </a:prstGeom>
          <a:noFill/>
          <a:ln/>
        </p:spPr>
        <p:txBody>
          <a:bodyPr wrap="square" lIns="0" tIns="0" rIns="0" bIns="0" rtlCol="0" anchor="ctr"/>
          <a:lstStyle/>
          <a:p>
            <a:pPr indent="0" marL="0">
              <a:buNone/>
            </a:pPr>
            <a:r>
              <a:rPr lang="en-US" sz="980" dirty="0">
                <a:solidFill>
                  <a:srgbClr val="5C6B7A"/>
                </a:solidFill>
              </a:rPr>
              <a:t>규칙 엔진 (앱 내부, 판정) + 외부 LLM 상담·피부 판독 모듈</a:t>
            </a:r>
            <a:endParaRPr lang="en-US" sz="980" dirty="0"/>
          </a:p>
        </p:txBody>
      </p:sp>
      <p:sp>
        <p:nvSpPr>
          <p:cNvPr id="20" name="Shape 18"/>
          <p:cNvSpPr/>
          <p:nvPr/>
        </p:nvSpPr>
        <p:spPr>
          <a:xfrm>
            <a:off x="6492240" y="3895344"/>
            <a:ext cx="1572768" cy="420624"/>
          </a:xfrm>
          <a:prstGeom prst="roundRect">
            <a:avLst>
              <a:gd name="adj" fmla="val 50000"/>
            </a:avLst>
          </a:prstGeom>
          <a:solidFill>
            <a:srgbClr val="FAE3DC"/>
          </a:solidFill>
          <a:ln w="12700">
            <a:solidFill>
              <a:srgbClr val="FAE3DC"/>
            </a:solidFill>
            <a:prstDash val="solid"/>
          </a:ln>
        </p:spPr>
      </p:sp>
      <p:sp>
        <p:nvSpPr>
          <p:cNvPr id="21" name="Text 19"/>
          <p:cNvSpPr txBox="1"/>
          <p:nvPr/>
        </p:nvSpPr>
        <p:spPr>
          <a:xfrm>
            <a:off x="6492240" y="3895344"/>
            <a:ext cx="1572768" cy="420624"/>
          </a:xfrm>
          <a:prstGeom prst="rect">
            <a:avLst/>
          </a:prstGeom>
          <a:noFill/>
          <a:ln/>
        </p:spPr>
        <p:txBody>
          <a:bodyPr wrap="square" lIns="0" tIns="0" rIns="0" bIns="0" rtlCol="0" anchor="ctr"/>
          <a:lstStyle/>
          <a:p>
            <a:pPr algn="ctr" indent="0" marL="0">
              <a:buNone/>
            </a:pPr>
            <a:r>
              <a:rPr lang="en-US" sz="1000" b="1" dirty="0">
                <a:solidFill>
                  <a:srgbClr val="27374D"/>
                </a:solidFill>
              </a:rPr>
              <a:t>이유석 · 이하늘</a:t>
            </a:r>
            <a:endParaRPr lang="en-US" sz="1000" dirty="0"/>
          </a:p>
        </p:txBody>
      </p:sp>
      <p:sp>
        <p:nvSpPr>
          <p:cNvPr id="22" name="Shape 20"/>
          <p:cNvSpPr/>
          <p:nvPr/>
        </p:nvSpPr>
        <p:spPr>
          <a:xfrm>
            <a:off x="822960" y="4718304"/>
            <a:ext cx="7406640" cy="932688"/>
          </a:xfrm>
          <a:prstGeom prst="roundRect">
            <a:avLst>
              <a:gd name="adj" fmla="val 6863"/>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23" name="Shape 21"/>
          <p:cNvSpPr/>
          <p:nvPr/>
        </p:nvSpPr>
        <p:spPr>
          <a:xfrm>
            <a:off x="822960" y="4718304"/>
            <a:ext cx="128016" cy="932688"/>
          </a:xfrm>
          <a:prstGeom prst="roundRect">
            <a:avLst>
              <a:gd name="adj" fmla="val 35714"/>
            </a:avLst>
          </a:prstGeom>
          <a:solidFill>
            <a:srgbClr val="E09F3E"/>
          </a:solidFill>
          <a:ln w="12700">
            <a:solidFill>
              <a:srgbClr val="E09F3E"/>
            </a:solidFill>
            <a:prstDash val="solid"/>
          </a:ln>
        </p:spPr>
      </p:sp>
      <p:sp>
        <p:nvSpPr>
          <p:cNvPr id="24" name="Text 22"/>
          <p:cNvSpPr txBox="1"/>
          <p:nvPr/>
        </p:nvSpPr>
        <p:spPr>
          <a:xfrm>
            <a:off x="1097280" y="4809744"/>
            <a:ext cx="1920240" cy="365760"/>
          </a:xfrm>
          <a:prstGeom prst="rect">
            <a:avLst/>
          </a:prstGeom>
          <a:noFill/>
          <a:ln/>
        </p:spPr>
        <p:txBody>
          <a:bodyPr wrap="square" lIns="0" tIns="0" rIns="0" bIns="0" rtlCol="0" anchor="ctr"/>
          <a:lstStyle/>
          <a:p>
            <a:pPr indent="0" marL="0">
              <a:buNone/>
            </a:pPr>
            <a:r>
              <a:rPr lang="en-US" sz="1350" b="1" dirty="0">
                <a:solidFill>
                  <a:srgbClr val="27374D"/>
                </a:solidFill>
              </a:rPr>
              <a:t>데이터 · 인프라</a:t>
            </a:r>
            <a:endParaRPr lang="en-US" sz="1350" dirty="0"/>
          </a:p>
        </p:txBody>
      </p:sp>
      <p:sp>
        <p:nvSpPr>
          <p:cNvPr id="25" name="Text 23"/>
          <p:cNvSpPr txBox="1"/>
          <p:nvPr/>
        </p:nvSpPr>
        <p:spPr>
          <a:xfrm>
            <a:off x="1097280" y="5157216"/>
            <a:ext cx="5120640" cy="457200"/>
          </a:xfrm>
          <a:prstGeom prst="rect">
            <a:avLst/>
          </a:prstGeom>
          <a:noFill/>
          <a:ln/>
        </p:spPr>
        <p:txBody>
          <a:bodyPr wrap="square" lIns="0" tIns="0" rIns="0" bIns="0" rtlCol="0" anchor="ctr"/>
          <a:lstStyle/>
          <a:p>
            <a:pPr indent="0" marL="0">
              <a:buNone/>
            </a:pPr>
            <a:r>
              <a:rPr lang="en-US" sz="980" dirty="0">
                <a:solidFill>
                  <a:srgbClr val="5C6B7A"/>
                </a:solidFill>
              </a:rPr>
              <a:t>Supabase PostgreSQL + RLS(행 수준 보안) · Supabase Auth · Firebase Cloud Messaging</a:t>
            </a:r>
            <a:endParaRPr lang="en-US" sz="980" dirty="0"/>
          </a:p>
        </p:txBody>
      </p:sp>
      <p:sp>
        <p:nvSpPr>
          <p:cNvPr id="26" name="Shape 24"/>
          <p:cNvSpPr/>
          <p:nvPr/>
        </p:nvSpPr>
        <p:spPr>
          <a:xfrm>
            <a:off x="6492240" y="4974336"/>
            <a:ext cx="1572768" cy="420624"/>
          </a:xfrm>
          <a:prstGeom prst="roundRect">
            <a:avLst>
              <a:gd name="adj" fmla="val 50000"/>
            </a:avLst>
          </a:prstGeom>
          <a:solidFill>
            <a:srgbClr val="FAE3DC"/>
          </a:solidFill>
          <a:ln w="12700">
            <a:solidFill>
              <a:srgbClr val="FAE3DC"/>
            </a:solidFill>
            <a:prstDash val="solid"/>
          </a:ln>
        </p:spPr>
      </p:sp>
      <p:sp>
        <p:nvSpPr>
          <p:cNvPr id="27" name="Text 25"/>
          <p:cNvSpPr txBox="1"/>
          <p:nvPr/>
        </p:nvSpPr>
        <p:spPr>
          <a:xfrm>
            <a:off x="6492240" y="4974336"/>
            <a:ext cx="1572768" cy="420624"/>
          </a:xfrm>
          <a:prstGeom prst="rect">
            <a:avLst/>
          </a:prstGeom>
          <a:noFill/>
          <a:ln/>
        </p:spPr>
        <p:txBody>
          <a:bodyPr wrap="square" lIns="0" tIns="0" rIns="0" bIns="0" rtlCol="0" anchor="ctr"/>
          <a:lstStyle/>
          <a:p>
            <a:pPr algn="ctr" indent="0" marL="0">
              <a:buNone/>
            </a:pPr>
            <a:r>
              <a:rPr lang="en-US" sz="1000" b="1" dirty="0">
                <a:solidFill>
                  <a:srgbClr val="27374D"/>
                </a:solidFill>
              </a:rPr>
              <a:t>이유석</a:t>
            </a:r>
            <a:endParaRPr lang="en-US" sz="1000" dirty="0"/>
          </a:p>
        </p:txBody>
      </p:sp>
      <p:sp>
        <p:nvSpPr>
          <p:cNvPr id="28" name="Shape 26"/>
          <p:cNvSpPr/>
          <p:nvPr/>
        </p:nvSpPr>
        <p:spPr>
          <a:xfrm>
            <a:off x="8549640" y="1481328"/>
            <a:ext cx="2834640" cy="4315968"/>
          </a:xfrm>
          <a:prstGeom prst="roundRect">
            <a:avLst>
              <a:gd name="adj" fmla="val 2258"/>
            </a:avLst>
          </a:prstGeom>
          <a:solidFill>
            <a:srgbClr val="27374D"/>
          </a:solidFill>
          <a:ln w="12700">
            <a:solidFill>
              <a:srgbClr val="27374D"/>
            </a:solidFill>
            <a:prstDash val="solid"/>
          </a:ln>
          <a:effectLst>
            <a:outerShdw sx="100000" sy="100000" kx="0" ky="0" algn="bl" rotWithShape="0" blurRad="76200" dist="19050" dir="5400000">
              <a:srgbClr val="27374D">
                <a:alpha val="12000"/>
              </a:srgbClr>
            </a:outerShdw>
          </a:effectLst>
        </p:spPr>
      </p:sp>
      <p:sp>
        <p:nvSpPr>
          <p:cNvPr id="29" name="Text 27"/>
          <p:cNvSpPr txBox="1"/>
          <p:nvPr/>
        </p:nvSpPr>
        <p:spPr>
          <a:xfrm>
            <a:off x="8778240" y="1691640"/>
            <a:ext cx="2377440" cy="365760"/>
          </a:xfrm>
          <a:prstGeom prst="rect">
            <a:avLst/>
          </a:prstGeom>
          <a:noFill/>
          <a:ln/>
        </p:spPr>
        <p:txBody>
          <a:bodyPr wrap="square" lIns="0" tIns="0" rIns="0" bIns="0" rtlCol="0" anchor="ctr"/>
          <a:lstStyle/>
          <a:p>
            <a:pPr indent="0" marL="0">
              <a:buNone/>
            </a:pPr>
            <a:r>
              <a:rPr lang="en-US" sz="1400" b="1" dirty="0">
                <a:solidFill>
                  <a:srgbClr val="FFB3A0"/>
                </a:solidFill>
              </a:rPr>
              <a:t>핵심</a:t>
            </a:r>
            <a:endParaRPr lang="en-US" sz="1400" dirty="0"/>
          </a:p>
        </p:txBody>
      </p:sp>
      <p:sp>
        <p:nvSpPr>
          <p:cNvPr id="30" name="Text 28"/>
          <p:cNvSpPr txBox="1"/>
          <p:nvPr/>
        </p:nvSpPr>
        <p:spPr>
          <a:xfrm>
            <a:off x="8778240" y="2103120"/>
            <a:ext cx="2423160" cy="777240"/>
          </a:xfrm>
          <a:prstGeom prst="rect">
            <a:avLst/>
          </a:prstGeom>
          <a:noFill/>
          <a:ln/>
        </p:spPr>
        <p:txBody>
          <a:bodyPr wrap="square" lIns="0" tIns="0" rIns="0" bIns="0" rtlCol="0" anchor="ctr"/>
          <a:lstStyle/>
          <a:p>
            <a:pPr indent="0" marL="0">
              <a:buNone/>
            </a:pPr>
            <a:r>
              <a:rPr lang="en-US" sz="1300" b="1" dirty="0">
                <a:solidFill>
                  <a:srgbClr val="FFFFFF"/>
                </a:solidFill>
              </a:rPr>
              <a:t>서버가 꼭 필요한</a:t>
            </a:r>
            <a:endParaRPr lang="en-US" sz="1300" dirty="0"/>
          </a:p>
          <a:p>
            <a:pPr indent="0" marL="0">
              <a:buNone/>
            </a:pPr>
            <a:r>
              <a:rPr lang="en-US" sz="1300" b="1" dirty="0">
                <a:solidFill>
                  <a:srgbClr val="FFFFFF"/>
                </a:solidFill>
              </a:rPr>
              <a:t>두 요청만 서버를 거친다</a:t>
            </a:r>
            <a:endParaRPr lang="en-US" sz="1300" dirty="0"/>
          </a:p>
        </p:txBody>
      </p:sp>
      <p:sp>
        <p:nvSpPr>
          <p:cNvPr id="31" name="Text 29"/>
          <p:cNvSpPr txBox="1"/>
          <p:nvPr/>
        </p:nvSpPr>
        <p:spPr>
          <a:xfrm>
            <a:off x="8778240" y="3017520"/>
            <a:ext cx="2423160" cy="2377440"/>
          </a:xfrm>
          <a:prstGeom prst="rect">
            <a:avLst/>
          </a:prstGeom>
          <a:noFill/>
          <a:ln/>
        </p:spPr>
        <p:txBody>
          <a:bodyPr wrap="square" lIns="0" tIns="0" rIns="0" bIns="0" rtlCol="0" anchor="ctr"/>
          <a:lstStyle/>
          <a:p>
            <a:pPr indent="0" marL="0">
              <a:lnSpc>
                <a:spcPct val="125000"/>
              </a:lnSpc>
              <a:buNone/>
            </a:pPr>
            <a:r>
              <a:rPr lang="en-US" sz="1100" dirty="0">
                <a:solidFill>
                  <a:srgbClr val="DCE4EC"/>
                </a:solidFill>
              </a:rPr>
              <a:t>단순 기록 → Supabase 직행</a:t>
            </a:r>
            <a:endParaRPr lang="en-US" sz="1100" dirty="0"/>
          </a:p>
          <a:p>
            <a:pPr indent="0" marL="0">
              <a:lnSpc>
                <a:spcPct val="125000"/>
              </a:lnSpc>
              <a:buNone/>
            </a:pPr>
            <a:r>
              <a:rPr lang="en-US" sz="1100" dirty="0">
                <a:solidFill>
                  <a:srgbClr val="DCE4EC"/>
                </a:solidFill>
              </a:rPr>
              <a:t>상담·피부 → FastAPI 경유</a:t>
            </a:r>
            <a:endParaRPr lang="en-US" sz="1100" dirty="0"/>
          </a:p>
          <a:p>
            <a:pPr indent="0" marL="0">
              <a:lnSpc>
                <a:spcPct val="125000"/>
              </a:lnSpc>
              <a:buNone/>
            </a:pPr>
            <a:endParaRPr lang="en-US" sz="1100" dirty="0"/>
          </a:p>
          <a:p>
            <a:pPr indent="0" marL="0">
              <a:lnSpc>
                <a:spcPct val="125000"/>
              </a:lnSpc>
              <a:buNone/>
            </a:pPr>
            <a:r>
              <a:rPr lang="en-US" sz="1100" dirty="0">
                <a:solidFill>
                  <a:srgbClr val="DCE4EC"/>
                </a:solidFill>
              </a:rPr>
              <a:t>LLM이 멈춰도</a:t>
            </a:r>
            <a:endParaRPr lang="en-US" sz="1100" dirty="0"/>
          </a:p>
          <a:p>
            <a:pPr indent="0" marL="0">
              <a:lnSpc>
                <a:spcPct val="125000"/>
              </a:lnSpc>
              <a:buNone/>
            </a:pPr>
            <a:r>
              <a:rPr lang="en-US" sz="1100" dirty="0">
                <a:solidFill>
                  <a:srgbClr val="DCE4EC"/>
                </a:solidFill>
              </a:rPr>
              <a:t>판정·기록·공유·알림은 동작</a:t>
            </a:r>
            <a:endParaRPr lang="en-US" sz="11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기술적 도전 ①</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CNN을 버린 이유 — 틀리면서, 확신했다</a:t>
            </a:r>
            <a:endParaRPr lang="en-US" sz="2600" dirty="0"/>
          </a:p>
        </p:txBody>
      </p:sp>
      <p:sp>
        <p:nvSpPr>
          <p:cNvPr id="4" name="Shape 2"/>
          <p:cNvSpPr/>
          <p:nvPr/>
        </p:nvSpPr>
        <p:spPr>
          <a:xfrm>
            <a:off x="822960" y="1481328"/>
            <a:ext cx="5166360" cy="1444752"/>
          </a:xfrm>
          <a:prstGeom prst="roundRect">
            <a:avLst>
              <a:gd name="adj" fmla="val 4430"/>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Text 3"/>
          <p:cNvSpPr txBox="1"/>
          <p:nvPr/>
        </p:nvSpPr>
        <p:spPr>
          <a:xfrm>
            <a:off x="1024128" y="1609344"/>
            <a:ext cx="4754880" cy="566928"/>
          </a:xfrm>
          <a:prstGeom prst="rect">
            <a:avLst/>
          </a:prstGeom>
          <a:noFill/>
          <a:ln/>
        </p:spPr>
        <p:txBody>
          <a:bodyPr wrap="square" lIns="0" tIns="0" rIns="0" bIns="0" rtlCol="0" anchor="ctr"/>
          <a:lstStyle/>
          <a:p>
            <a:pPr indent="0" marL="0">
              <a:buNone/>
            </a:pPr>
            <a:r>
              <a:rPr lang="en-US" sz="2700" b="1" dirty="0">
                <a:solidFill>
                  <a:srgbClr val="C64848"/>
                </a:solidFill>
              </a:rPr>
              <a:t>31%</a:t>
            </a:r>
            <a:endParaRPr lang="en-US" sz="2700" dirty="0"/>
          </a:p>
        </p:txBody>
      </p:sp>
      <p:sp>
        <p:nvSpPr>
          <p:cNvPr id="6" name="Text 4"/>
          <p:cNvSpPr txBox="1"/>
          <p:nvPr/>
        </p:nvSpPr>
        <p:spPr>
          <a:xfrm>
            <a:off x="1024128" y="2212848"/>
            <a:ext cx="4800600" cy="640080"/>
          </a:xfrm>
          <a:prstGeom prst="rect">
            <a:avLst/>
          </a:prstGeom>
          <a:noFill/>
          <a:ln/>
        </p:spPr>
        <p:txBody>
          <a:bodyPr wrap="square" lIns="0" tIns="0" rIns="0" bIns="0" rtlCol="0" anchor="ctr"/>
          <a:lstStyle/>
          <a:p>
            <a:pPr indent="0" marL="0">
              <a:buNone/>
            </a:pPr>
            <a:r>
              <a:rPr lang="en-US" sz="1050" dirty="0">
                <a:solidFill>
                  <a:srgbClr val="5C6B7A"/>
                </a:solidFill>
              </a:rPr>
              <a:t>영유아 질환 사진 32장 중 10장을 '정상' 오판 — 평균 신뢰도 94%</a:t>
            </a:r>
            <a:endParaRPr lang="en-US" sz="1050" dirty="0"/>
          </a:p>
        </p:txBody>
      </p:sp>
      <p:sp>
        <p:nvSpPr>
          <p:cNvPr id="7" name="Shape 5"/>
          <p:cNvSpPr/>
          <p:nvPr/>
        </p:nvSpPr>
        <p:spPr>
          <a:xfrm>
            <a:off x="6172200" y="1481328"/>
            <a:ext cx="5166360" cy="1444752"/>
          </a:xfrm>
          <a:prstGeom prst="roundRect">
            <a:avLst>
              <a:gd name="adj" fmla="val 4430"/>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8" name="Text 6"/>
          <p:cNvSpPr txBox="1"/>
          <p:nvPr/>
        </p:nvSpPr>
        <p:spPr>
          <a:xfrm>
            <a:off x="6373368" y="1609344"/>
            <a:ext cx="4754880" cy="566928"/>
          </a:xfrm>
          <a:prstGeom prst="rect">
            <a:avLst/>
          </a:prstGeom>
          <a:noFill/>
          <a:ln/>
        </p:spPr>
        <p:txBody>
          <a:bodyPr wrap="square" lIns="0" tIns="0" rIns="0" bIns="0" rtlCol="0" anchor="ctr"/>
          <a:lstStyle/>
          <a:p>
            <a:pPr indent="0" marL="0">
              <a:buNone/>
            </a:pPr>
            <a:r>
              <a:rPr lang="en-US" sz="2700" b="1" dirty="0">
                <a:solidFill>
                  <a:srgbClr val="C64848"/>
                </a:solidFill>
              </a:rPr>
              <a:t>91% · 92%</a:t>
            </a:r>
            <a:endParaRPr lang="en-US" sz="2700" dirty="0"/>
          </a:p>
        </p:txBody>
      </p:sp>
      <p:sp>
        <p:nvSpPr>
          <p:cNvPr id="9" name="Text 7"/>
          <p:cNvSpPr txBox="1"/>
          <p:nvPr/>
        </p:nvSpPr>
        <p:spPr>
          <a:xfrm>
            <a:off x="6373368" y="2212848"/>
            <a:ext cx="4800600" cy="640080"/>
          </a:xfrm>
          <a:prstGeom prst="rect">
            <a:avLst/>
          </a:prstGeom>
          <a:noFill/>
          <a:ln/>
        </p:spPr>
        <p:txBody>
          <a:bodyPr wrap="square" lIns="0" tIns="0" rIns="0" bIns="0" rtlCol="0" anchor="ctr"/>
          <a:lstStyle/>
          <a:p>
            <a:pPr indent="0" marL="0">
              <a:buNone/>
            </a:pPr>
            <a:r>
              <a:rPr lang="en-US" sz="1050" dirty="0">
                <a:solidFill>
                  <a:srgbClr val="5C6B7A"/>
                </a:solidFill>
              </a:rPr>
              <a:t>무작위 노이즈·체커보드를 그 신뢰도로 분류 — softmax에는 '모른다'가 없다</a:t>
            </a:r>
            <a:endParaRPr lang="en-US" sz="1050" dirty="0"/>
          </a:p>
        </p:txBody>
      </p:sp>
      <p:sp>
        <p:nvSpPr>
          <p:cNvPr id="10" name="Shape 8"/>
          <p:cNvSpPr/>
          <p:nvPr/>
        </p:nvSpPr>
        <p:spPr>
          <a:xfrm>
            <a:off x="822960" y="3072384"/>
            <a:ext cx="5166360" cy="1444752"/>
          </a:xfrm>
          <a:prstGeom prst="roundRect">
            <a:avLst>
              <a:gd name="adj" fmla="val 4430"/>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1" name="Text 9"/>
          <p:cNvSpPr txBox="1"/>
          <p:nvPr/>
        </p:nvSpPr>
        <p:spPr>
          <a:xfrm>
            <a:off x="1024128" y="3200400"/>
            <a:ext cx="4754880" cy="566928"/>
          </a:xfrm>
          <a:prstGeom prst="rect">
            <a:avLst/>
          </a:prstGeom>
          <a:noFill/>
          <a:ln/>
        </p:spPr>
        <p:txBody>
          <a:bodyPr wrap="square" lIns="0" tIns="0" rIns="0" bIns="0" rtlCol="0" anchor="ctr"/>
          <a:lstStyle/>
          <a:p>
            <a:pPr indent="0" marL="0">
              <a:buNone/>
            </a:pPr>
            <a:r>
              <a:rPr lang="en-US" sz="2700" b="1" dirty="0">
                <a:solidFill>
                  <a:srgbClr val="27374D"/>
                </a:solidFill>
              </a:rPr>
              <a:t>313 / 3,471</a:t>
            </a:r>
            <a:endParaRPr lang="en-US" sz="2700" dirty="0"/>
          </a:p>
        </p:txBody>
      </p:sp>
      <p:sp>
        <p:nvSpPr>
          <p:cNvPr id="12" name="Text 10"/>
          <p:cNvSpPr txBox="1"/>
          <p:nvPr/>
        </p:nvSpPr>
        <p:spPr>
          <a:xfrm>
            <a:off x="1024128" y="3803904"/>
            <a:ext cx="4800600" cy="640080"/>
          </a:xfrm>
          <a:prstGeom prst="rect">
            <a:avLst/>
          </a:prstGeom>
          <a:noFill/>
          <a:ln/>
        </p:spPr>
        <p:txBody>
          <a:bodyPr wrap="square" lIns="0" tIns="0" rIns="0" bIns="0" rtlCol="0" anchor="ctr"/>
          <a:lstStyle/>
          <a:p>
            <a:pPr indent="0" marL="0">
              <a:buNone/>
            </a:pPr>
            <a:r>
              <a:rPr lang="en-US" sz="1050" dirty="0">
                <a:solidFill>
                  <a:srgbClr val="5C6B7A"/>
                </a:solidFill>
              </a:rPr>
              <a:t>학습 데이터 중 영유아 정상 피부 — 대부분 성인 피부 (MobileNetV2 전이학습)</a:t>
            </a:r>
            <a:endParaRPr lang="en-US" sz="1050" dirty="0"/>
          </a:p>
        </p:txBody>
      </p:sp>
      <p:sp>
        <p:nvSpPr>
          <p:cNvPr id="13" name="Shape 11"/>
          <p:cNvSpPr/>
          <p:nvPr/>
        </p:nvSpPr>
        <p:spPr>
          <a:xfrm>
            <a:off x="6172200" y="3072384"/>
            <a:ext cx="5166360" cy="1444752"/>
          </a:xfrm>
          <a:prstGeom prst="roundRect">
            <a:avLst>
              <a:gd name="adj" fmla="val 4430"/>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4" name="Text 12"/>
          <p:cNvSpPr txBox="1"/>
          <p:nvPr/>
        </p:nvSpPr>
        <p:spPr>
          <a:xfrm>
            <a:off x="6373368" y="3200400"/>
            <a:ext cx="4754880" cy="566928"/>
          </a:xfrm>
          <a:prstGeom prst="rect">
            <a:avLst/>
          </a:prstGeom>
          <a:noFill/>
          <a:ln/>
        </p:spPr>
        <p:txBody>
          <a:bodyPr wrap="square" lIns="0" tIns="0" rIns="0" bIns="0" rtlCol="0" anchor="ctr"/>
          <a:lstStyle/>
          <a:p>
            <a:pPr indent="0" marL="0">
              <a:buNone/>
            </a:pPr>
            <a:r>
              <a:rPr lang="en-US" sz="2700" b="1" dirty="0">
                <a:solidFill>
                  <a:srgbClr val="27374D"/>
                </a:solidFill>
              </a:rPr>
              <a:t>17~40%</a:t>
            </a:r>
            <a:endParaRPr lang="en-US" sz="2700" dirty="0"/>
          </a:p>
        </p:txBody>
      </p:sp>
      <p:sp>
        <p:nvSpPr>
          <p:cNvPr id="15" name="Text 13"/>
          <p:cNvSpPr txBox="1"/>
          <p:nvPr/>
        </p:nvSpPr>
        <p:spPr>
          <a:xfrm>
            <a:off x="6373368" y="3803904"/>
            <a:ext cx="4800600" cy="640080"/>
          </a:xfrm>
          <a:prstGeom prst="rect">
            <a:avLst/>
          </a:prstGeom>
          <a:noFill/>
          <a:ln/>
        </p:spPr>
        <p:txBody>
          <a:bodyPr wrap="square" lIns="0" tIns="0" rIns="0" bIns="0" rtlCol="0" anchor="ctr"/>
          <a:lstStyle/>
          <a:p>
            <a:pPr indent="0" marL="0">
              <a:buNone/>
            </a:pPr>
            <a:r>
              <a:rPr lang="en-US" sz="1050" dirty="0">
                <a:solidFill>
                  <a:srgbClr val="5C6B7A"/>
                </a:solidFill>
              </a:rPr>
              <a:t>전처리 4종을 바꿔도 오판 — 표본이 아니라 데이터·구조의 문제</a:t>
            </a:r>
            <a:endParaRPr lang="en-US" sz="1050" dirty="0"/>
          </a:p>
        </p:txBody>
      </p:sp>
      <p:sp>
        <p:nvSpPr>
          <p:cNvPr id="16" name="Shape 14"/>
          <p:cNvSpPr/>
          <p:nvPr/>
        </p:nvSpPr>
        <p:spPr>
          <a:xfrm>
            <a:off x="822960" y="4800600"/>
            <a:ext cx="10561320" cy="1298448"/>
          </a:xfrm>
          <a:prstGeom prst="roundRect">
            <a:avLst>
              <a:gd name="adj" fmla="val 4930"/>
            </a:avLst>
          </a:prstGeom>
          <a:solidFill>
            <a:srgbClr val="27374D"/>
          </a:solidFill>
          <a:ln w="12700">
            <a:solidFill>
              <a:srgbClr val="27374D"/>
            </a:solidFill>
            <a:prstDash val="solid"/>
          </a:ln>
        </p:spPr>
      </p:sp>
      <p:sp>
        <p:nvSpPr>
          <p:cNvPr id="17" name="Text 15"/>
          <p:cNvSpPr txBox="1"/>
          <p:nvPr/>
        </p:nvSpPr>
        <p:spPr>
          <a:xfrm>
            <a:off x="1051560" y="4956048"/>
            <a:ext cx="4846320" cy="1005840"/>
          </a:xfrm>
          <a:prstGeom prst="rect">
            <a:avLst/>
          </a:prstGeom>
          <a:noFill/>
          <a:ln/>
        </p:spPr>
        <p:txBody>
          <a:bodyPr wrap="square" lIns="0" tIns="0" rIns="0" bIns="0" rtlCol="0" anchor="ctr"/>
          <a:lstStyle/>
          <a:p>
            <a:pPr indent="0" marL="0">
              <a:buNone/>
            </a:pPr>
            <a:r>
              <a:rPr lang="en-US" sz="1350" b="1" dirty="0">
                <a:solidFill>
                  <a:srgbClr val="FFFFFF"/>
                </a:solidFill>
              </a:rPr>
              <a:t>틀릴 때 확신하는 분류기는 '불안 해소'와 정반대 → CNN 제거
</a:t>
            </a:r>
            <a:pPr indent="0" marL="0">
              <a:buNone/>
            </a:pPr>
            <a:r>
              <a:rPr lang="en-US" sz="950" i="1" dirty="0">
                <a:solidFill>
                  <a:srgbClr val="DCE4EC"/>
                </a:solidFill>
              </a:rPr>
              <a:t>LLM 자체의 정량 평가는 남은 과제로 명시</a:t>
            </a:r>
            <a:endParaRPr lang="en-US" sz="1350" dirty="0"/>
          </a:p>
        </p:txBody>
      </p:sp>
      <p:sp>
        <p:nvSpPr>
          <p:cNvPr id="18" name="Shape 16"/>
          <p:cNvSpPr/>
          <p:nvPr/>
        </p:nvSpPr>
        <p:spPr>
          <a:xfrm>
            <a:off x="6035040" y="5029200"/>
            <a:ext cx="2331720" cy="841248"/>
          </a:xfrm>
          <a:prstGeom prst="roundRect">
            <a:avLst>
              <a:gd name="adj" fmla="val 10870"/>
            </a:avLst>
          </a:prstGeom>
          <a:solidFill>
            <a:srgbClr val="33465F"/>
          </a:solidFill>
          <a:ln w="9525">
            <a:solidFill>
              <a:srgbClr val="5C6B7A"/>
            </a:solidFill>
            <a:prstDash val="solid"/>
          </a:ln>
        </p:spPr>
      </p:sp>
      <p:sp>
        <p:nvSpPr>
          <p:cNvPr id="19" name="Text 17"/>
          <p:cNvSpPr txBox="1"/>
          <p:nvPr/>
        </p:nvSpPr>
        <p:spPr>
          <a:xfrm>
            <a:off x="6126480" y="5029200"/>
            <a:ext cx="2194560" cy="841248"/>
          </a:xfrm>
          <a:prstGeom prst="rect">
            <a:avLst/>
          </a:prstGeom>
          <a:noFill/>
          <a:ln/>
        </p:spPr>
        <p:txBody>
          <a:bodyPr wrap="square" lIns="0" tIns="0" rIns="0" bIns="0" rtlCol="0" anchor="ctr"/>
          <a:lstStyle/>
          <a:p>
            <a:pPr algn="ctr" indent="0" marL="0">
              <a:buNone/>
            </a:pPr>
            <a:r>
              <a:rPr lang="en-US" sz="1000" b="1" dirty="0">
                <a:solidFill>
                  <a:srgbClr val="FFFFFF"/>
                </a:solidFill>
              </a:rPr>
              <a:t>대체 — LLM 비전</a:t>
            </a:r>
            <a:endParaRPr lang="en-US" sz="1000" dirty="0"/>
          </a:p>
          <a:p>
            <a:pPr algn="ctr" indent="0" marL="0">
              <a:buNone/>
            </a:pPr>
            <a:r>
              <a:rPr lang="en-US" sz="1000" b="1" dirty="0">
                <a:solidFill>
                  <a:srgbClr val="FFFFFF"/>
                </a:solidFill>
              </a:rPr>
              <a:t>병명 없이 관찰 특징·단계만</a:t>
            </a:r>
            <a:endParaRPr lang="en-US" sz="1000" dirty="0"/>
          </a:p>
        </p:txBody>
      </p:sp>
      <p:sp>
        <p:nvSpPr>
          <p:cNvPr id="20" name="Shape 18"/>
          <p:cNvSpPr/>
          <p:nvPr/>
        </p:nvSpPr>
        <p:spPr>
          <a:xfrm>
            <a:off x="8412480" y="5449824"/>
            <a:ext cx="384048" cy="0"/>
          </a:xfrm>
          <a:prstGeom prst="line">
            <a:avLst/>
          </a:prstGeom>
          <a:noFill/>
          <a:ln w="25400">
            <a:solidFill>
              <a:srgbClr val="FFB3A0"/>
            </a:solidFill>
            <a:prstDash val="solid"/>
            <a:tailEnd type="triangle"/>
          </a:ln>
        </p:spPr>
      </p:sp>
      <p:sp>
        <p:nvSpPr>
          <p:cNvPr id="21" name="Shape 19"/>
          <p:cNvSpPr/>
          <p:nvPr/>
        </p:nvSpPr>
        <p:spPr>
          <a:xfrm>
            <a:off x="8851392" y="5029200"/>
            <a:ext cx="2395728" cy="841248"/>
          </a:xfrm>
          <a:prstGeom prst="roundRect">
            <a:avLst>
              <a:gd name="adj" fmla="val 10870"/>
            </a:avLst>
          </a:prstGeom>
          <a:solidFill>
            <a:srgbClr val="E96A50"/>
          </a:solidFill>
          <a:ln w="12700">
            <a:solidFill>
              <a:srgbClr val="E96A50"/>
            </a:solidFill>
            <a:prstDash val="solid"/>
          </a:ln>
        </p:spPr>
      </p:sp>
      <p:sp>
        <p:nvSpPr>
          <p:cNvPr id="22" name="Text 20"/>
          <p:cNvSpPr txBox="1"/>
          <p:nvPr/>
        </p:nvSpPr>
        <p:spPr>
          <a:xfrm>
            <a:off x="8924544" y="5029200"/>
            <a:ext cx="2267712" cy="841248"/>
          </a:xfrm>
          <a:prstGeom prst="rect">
            <a:avLst/>
          </a:prstGeom>
          <a:noFill/>
          <a:ln/>
        </p:spPr>
        <p:txBody>
          <a:bodyPr wrap="square" lIns="0" tIns="0" rIns="0" bIns="0" rtlCol="0" anchor="ctr"/>
          <a:lstStyle/>
          <a:p>
            <a:pPr algn="ctr" indent="0" marL="0">
              <a:buNone/>
            </a:pPr>
            <a:r>
              <a:rPr lang="en-US" sz="1000" b="1" dirty="0">
                <a:solidFill>
                  <a:srgbClr val="FFFFFF"/>
                </a:solidFill>
              </a:rPr>
              <a:t>최종 안전선 — 코드 잠금</a:t>
            </a:r>
            <a:endParaRPr lang="en-US" sz="1000" dirty="0"/>
          </a:p>
          <a:p>
            <a:pPr algn="ctr" indent="0" marL="0">
              <a:buNone/>
            </a:pPr>
            <a:r>
              <a:rPr lang="en-US" sz="1000" b="1" dirty="0">
                <a:solidFill>
                  <a:srgbClr val="FFFFFF"/>
                </a:solidFill>
              </a:rPr>
              <a:t>3개월 미만+발열 = 즉시 진료 상향</a:t>
            </a:r>
            <a:endParaRPr lang="en-US" sz="10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기술적 도전 ②</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새벽 3시, 외부 LLM이 중단되면?</a:t>
            </a:r>
            <a:endParaRPr lang="en-US" sz="2600" dirty="0"/>
          </a:p>
        </p:txBody>
      </p:sp>
      <p:sp>
        <p:nvSpPr>
          <p:cNvPr id="4" name="Shape 2"/>
          <p:cNvSpPr/>
          <p:nvPr/>
        </p:nvSpPr>
        <p:spPr>
          <a:xfrm>
            <a:off x="841248" y="1481328"/>
            <a:ext cx="365760" cy="365760"/>
          </a:xfrm>
          <a:prstGeom prst="ellipse">
            <a:avLst/>
          </a:prstGeom>
          <a:solidFill>
            <a:srgbClr val="3E9B7A"/>
          </a:solidFill>
          <a:ln w="12700">
            <a:solidFill>
              <a:srgbClr val="3E9B7A"/>
            </a:solidFill>
            <a:prstDash val="solid"/>
          </a:ln>
        </p:spPr>
      </p:sp>
      <p:sp>
        <p:nvSpPr>
          <p:cNvPr id="5" name="Text 3"/>
          <p:cNvSpPr txBox="1"/>
          <p:nvPr/>
        </p:nvSpPr>
        <p:spPr>
          <a:xfrm>
            <a:off x="841248" y="1481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6" name="Text 4"/>
          <p:cNvSpPr txBox="1"/>
          <p:nvPr/>
        </p:nvSpPr>
        <p:spPr>
          <a:xfrm>
            <a:off x="1325880" y="1463040"/>
            <a:ext cx="10058400" cy="411480"/>
          </a:xfrm>
          <a:prstGeom prst="rect">
            <a:avLst/>
          </a:prstGeom>
          <a:noFill/>
          <a:ln/>
        </p:spPr>
        <p:txBody>
          <a:bodyPr wrap="square" lIns="0" tIns="0" rIns="0" bIns="0" rtlCol="0" anchor="ctr"/>
          <a:lstStyle/>
          <a:p>
            <a:pPr indent="0" marL="0">
              <a:buNone/>
            </a:pPr>
            <a:r>
              <a:rPr lang="en-US" sz="1450" b="1" dirty="0">
                <a:solidFill>
                  <a:srgbClr val="27374D"/>
                </a:solidFill>
              </a:rPr>
              <a:t>판정 · 기록 · 공유 · 알림은 그대로 — AI 상담만 잠시 닫힙니다 (판정은 앱 내부 규칙)</a:t>
            </a:r>
            <a:endParaRPr lang="en-US" sz="1450" dirty="0"/>
          </a:p>
        </p:txBody>
      </p:sp>
      <p:sp>
        <p:nvSpPr>
          <p:cNvPr id="7" name="Text 5"/>
          <p:cNvSpPr txBox="1"/>
          <p:nvPr/>
        </p:nvSpPr>
        <p:spPr>
          <a:xfrm>
            <a:off x="841248" y="2148840"/>
            <a:ext cx="10058400" cy="320040"/>
          </a:xfrm>
          <a:prstGeom prst="rect">
            <a:avLst/>
          </a:prstGeom>
          <a:noFill/>
          <a:ln/>
        </p:spPr>
        <p:txBody>
          <a:bodyPr wrap="square" lIns="0" tIns="0" rIns="0" bIns="0" rtlCol="0" anchor="ctr"/>
          <a:lstStyle/>
          <a:p>
            <a:pPr indent="0" marL="0">
              <a:buNone/>
            </a:pPr>
            <a:r>
              <a:rPr lang="en-US" sz="1150" b="1" dirty="0">
                <a:solidFill>
                  <a:srgbClr val="5C6B7A"/>
                </a:solidFill>
              </a:rPr>
              <a:t>서킷 브레이커 — 상담·피부가 하나의 회로를 공유 (벤더가 하나이므로)</a:t>
            </a:r>
            <a:endParaRPr lang="en-US" sz="1150" dirty="0"/>
          </a:p>
        </p:txBody>
      </p:sp>
      <p:sp>
        <p:nvSpPr>
          <p:cNvPr id="8" name="Shape 6"/>
          <p:cNvSpPr/>
          <p:nvPr/>
        </p:nvSpPr>
        <p:spPr>
          <a:xfrm>
            <a:off x="868680" y="2606040"/>
            <a:ext cx="3017520" cy="1371600"/>
          </a:xfrm>
          <a:prstGeom prst="roundRect">
            <a:avLst>
              <a:gd name="adj" fmla="val 4667"/>
            </a:avLst>
          </a:prstGeom>
          <a:solidFill>
            <a:srgbClr val="FFFFFF"/>
          </a:solidFill>
          <a:ln w="9525">
            <a:solidFill>
              <a:srgbClr val="3E9B7A"/>
            </a:solidFill>
            <a:prstDash val="solid"/>
          </a:ln>
        </p:spPr>
      </p:sp>
      <p:sp>
        <p:nvSpPr>
          <p:cNvPr id="9" name="Shape 7"/>
          <p:cNvSpPr/>
          <p:nvPr/>
        </p:nvSpPr>
        <p:spPr>
          <a:xfrm>
            <a:off x="868680" y="2606040"/>
            <a:ext cx="3017520" cy="457200"/>
          </a:xfrm>
          <a:prstGeom prst="roundRect">
            <a:avLst>
              <a:gd name="adj" fmla="val 14000"/>
            </a:avLst>
          </a:prstGeom>
          <a:solidFill>
            <a:srgbClr val="3E9B7A"/>
          </a:solidFill>
          <a:ln w="12700">
            <a:solidFill>
              <a:srgbClr val="3E9B7A"/>
            </a:solidFill>
            <a:prstDash val="solid"/>
          </a:ln>
        </p:spPr>
      </p:sp>
      <p:sp>
        <p:nvSpPr>
          <p:cNvPr id="10" name="Text 8"/>
          <p:cNvSpPr txBox="1"/>
          <p:nvPr/>
        </p:nvSpPr>
        <p:spPr>
          <a:xfrm>
            <a:off x="868680" y="2606040"/>
            <a:ext cx="3017520" cy="457200"/>
          </a:xfrm>
          <a:prstGeom prst="rect">
            <a:avLst/>
          </a:prstGeom>
          <a:noFill/>
          <a:ln/>
        </p:spPr>
        <p:txBody>
          <a:bodyPr wrap="square" lIns="0" tIns="0" rIns="0" bIns="0" rtlCol="0" anchor="ctr"/>
          <a:lstStyle/>
          <a:p>
            <a:pPr algn="ctr" indent="0" marL="0">
              <a:buNone/>
            </a:pPr>
            <a:r>
              <a:rPr lang="en-US" sz="1300" b="1" dirty="0">
                <a:solidFill>
                  <a:srgbClr val="FFFFFF"/>
                </a:solidFill>
              </a:rPr>
              <a:t>닫힘</a:t>
            </a:r>
            <a:endParaRPr lang="en-US" sz="1300" dirty="0"/>
          </a:p>
        </p:txBody>
      </p:sp>
      <p:sp>
        <p:nvSpPr>
          <p:cNvPr id="11" name="Text 9"/>
          <p:cNvSpPr txBox="1"/>
          <p:nvPr/>
        </p:nvSpPr>
        <p:spPr>
          <a:xfrm>
            <a:off x="978408" y="3127248"/>
            <a:ext cx="2798064" cy="804672"/>
          </a:xfrm>
          <a:prstGeom prst="rect">
            <a:avLst/>
          </a:prstGeom>
          <a:noFill/>
          <a:ln/>
        </p:spPr>
        <p:txBody>
          <a:bodyPr wrap="square" lIns="0" tIns="0" rIns="0" bIns="0" rtlCol="0" anchor="ctr"/>
          <a:lstStyle/>
          <a:p>
            <a:pPr algn="ctr" indent="0" marL="0">
              <a:buNone/>
            </a:pPr>
            <a:r>
              <a:rPr lang="en-US" sz="980" dirty="0">
                <a:solidFill>
                  <a:srgbClr val="27374D"/>
                </a:solidFill>
              </a:rPr>
              <a:t>호출 통과 · 결과를 1분 창에 기록</a:t>
            </a:r>
            <a:endParaRPr lang="en-US" sz="980" dirty="0"/>
          </a:p>
        </p:txBody>
      </p:sp>
      <p:sp>
        <p:nvSpPr>
          <p:cNvPr id="12" name="Shape 10"/>
          <p:cNvSpPr/>
          <p:nvPr/>
        </p:nvSpPr>
        <p:spPr>
          <a:xfrm>
            <a:off x="4572000" y="2606040"/>
            <a:ext cx="3017520" cy="1371600"/>
          </a:xfrm>
          <a:prstGeom prst="roundRect">
            <a:avLst>
              <a:gd name="adj" fmla="val 4667"/>
            </a:avLst>
          </a:prstGeom>
          <a:solidFill>
            <a:srgbClr val="FFFFFF"/>
          </a:solidFill>
          <a:ln w="9525">
            <a:solidFill>
              <a:srgbClr val="C64848"/>
            </a:solidFill>
            <a:prstDash val="solid"/>
          </a:ln>
        </p:spPr>
      </p:sp>
      <p:sp>
        <p:nvSpPr>
          <p:cNvPr id="13" name="Shape 11"/>
          <p:cNvSpPr/>
          <p:nvPr/>
        </p:nvSpPr>
        <p:spPr>
          <a:xfrm>
            <a:off x="4572000" y="2606040"/>
            <a:ext cx="3017520" cy="457200"/>
          </a:xfrm>
          <a:prstGeom prst="roundRect">
            <a:avLst>
              <a:gd name="adj" fmla="val 14000"/>
            </a:avLst>
          </a:prstGeom>
          <a:solidFill>
            <a:srgbClr val="C64848"/>
          </a:solidFill>
          <a:ln w="12700">
            <a:solidFill>
              <a:srgbClr val="C64848"/>
            </a:solidFill>
            <a:prstDash val="solid"/>
          </a:ln>
        </p:spPr>
      </p:sp>
      <p:sp>
        <p:nvSpPr>
          <p:cNvPr id="14" name="Text 12"/>
          <p:cNvSpPr txBox="1"/>
          <p:nvPr/>
        </p:nvSpPr>
        <p:spPr>
          <a:xfrm>
            <a:off x="4572000" y="2606040"/>
            <a:ext cx="3017520" cy="457200"/>
          </a:xfrm>
          <a:prstGeom prst="rect">
            <a:avLst/>
          </a:prstGeom>
          <a:noFill/>
          <a:ln/>
        </p:spPr>
        <p:txBody>
          <a:bodyPr wrap="square" lIns="0" tIns="0" rIns="0" bIns="0" rtlCol="0" anchor="ctr"/>
          <a:lstStyle/>
          <a:p>
            <a:pPr algn="ctr" indent="0" marL="0">
              <a:buNone/>
            </a:pPr>
            <a:r>
              <a:rPr lang="en-US" sz="1300" b="1" dirty="0">
                <a:solidFill>
                  <a:srgbClr val="FFFFFF"/>
                </a:solidFill>
              </a:rPr>
              <a:t>열림</a:t>
            </a:r>
            <a:endParaRPr lang="en-US" sz="1300" dirty="0"/>
          </a:p>
        </p:txBody>
      </p:sp>
      <p:sp>
        <p:nvSpPr>
          <p:cNvPr id="15" name="Text 13"/>
          <p:cNvSpPr txBox="1"/>
          <p:nvPr/>
        </p:nvSpPr>
        <p:spPr>
          <a:xfrm>
            <a:off x="4681728" y="3127248"/>
            <a:ext cx="2798064" cy="804672"/>
          </a:xfrm>
          <a:prstGeom prst="rect">
            <a:avLst/>
          </a:prstGeom>
          <a:noFill/>
          <a:ln/>
        </p:spPr>
        <p:txBody>
          <a:bodyPr wrap="square" lIns="0" tIns="0" rIns="0" bIns="0" rtlCol="0" anchor="ctr"/>
          <a:lstStyle/>
          <a:p>
            <a:pPr algn="ctr" indent="0" marL="0">
              <a:buNone/>
            </a:pPr>
            <a:r>
              <a:rPr lang="en-US" sz="980" dirty="0">
                <a:solidFill>
                  <a:srgbClr val="27374D"/>
                </a:solidFill>
              </a:rPr>
              <a:t>호출 차단 · 즉시 한국어 안내</a:t>
            </a:r>
            <a:endParaRPr lang="en-US" sz="980" dirty="0"/>
          </a:p>
          <a:p>
            <a:pPr algn="ctr" indent="0" marL="0">
              <a:buNone/>
            </a:pPr>
            <a:r>
              <a:rPr lang="en-US" sz="980" dirty="0">
                <a:solidFill>
                  <a:srgbClr val="27374D"/>
                </a:solidFill>
              </a:rPr>
              <a:t>"1분 뒤 다시 시도해 주세요"</a:t>
            </a:r>
            <a:endParaRPr lang="en-US" sz="980" dirty="0"/>
          </a:p>
        </p:txBody>
      </p:sp>
      <p:sp>
        <p:nvSpPr>
          <p:cNvPr id="16" name="Shape 14"/>
          <p:cNvSpPr/>
          <p:nvPr/>
        </p:nvSpPr>
        <p:spPr>
          <a:xfrm>
            <a:off x="8275320" y="2606040"/>
            <a:ext cx="3017520" cy="1371600"/>
          </a:xfrm>
          <a:prstGeom prst="roundRect">
            <a:avLst>
              <a:gd name="adj" fmla="val 4667"/>
            </a:avLst>
          </a:prstGeom>
          <a:solidFill>
            <a:srgbClr val="FFFFFF"/>
          </a:solidFill>
          <a:ln w="9525">
            <a:solidFill>
              <a:srgbClr val="E09F3E"/>
            </a:solidFill>
            <a:prstDash val="solid"/>
          </a:ln>
        </p:spPr>
      </p:sp>
      <p:sp>
        <p:nvSpPr>
          <p:cNvPr id="17" name="Shape 15"/>
          <p:cNvSpPr/>
          <p:nvPr/>
        </p:nvSpPr>
        <p:spPr>
          <a:xfrm>
            <a:off x="8275320" y="2606040"/>
            <a:ext cx="3017520" cy="457200"/>
          </a:xfrm>
          <a:prstGeom prst="roundRect">
            <a:avLst>
              <a:gd name="adj" fmla="val 14000"/>
            </a:avLst>
          </a:prstGeom>
          <a:solidFill>
            <a:srgbClr val="E09F3E"/>
          </a:solidFill>
          <a:ln w="12700">
            <a:solidFill>
              <a:srgbClr val="E09F3E"/>
            </a:solidFill>
            <a:prstDash val="solid"/>
          </a:ln>
        </p:spPr>
      </p:sp>
      <p:sp>
        <p:nvSpPr>
          <p:cNvPr id="18" name="Text 16"/>
          <p:cNvSpPr txBox="1"/>
          <p:nvPr/>
        </p:nvSpPr>
        <p:spPr>
          <a:xfrm>
            <a:off x="8275320" y="2606040"/>
            <a:ext cx="3017520" cy="457200"/>
          </a:xfrm>
          <a:prstGeom prst="rect">
            <a:avLst/>
          </a:prstGeom>
          <a:noFill/>
          <a:ln/>
        </p:spPr>
        <p:txBody>
          <a:bodyPr wrap="square" lIns="0" tIns="0" rIns="0" bIns="0" rtlCol="0" anchor="ctr"/>
          <a:lstStyle/>
          <a:p>
            <a:pPr algn="ctr" indent="0" marL="0">
              <a:buNone/>
            </a:pPr>
            <a:r>
              <a:rPr lang="en-US" sz="1300" b="1" dirty="0">
                <a:solidFill>
                  <a:srgbClr val="FFFFFF"/>
                </a:solidFill>
              </a:rPr>
              <a:t>반열림</a:t>
            </a:r>
            <a:endParaRPr lang="en-US" sz="1300" dirty="0"/>
          </a:p>
        </p:txBody>
      </p:sp>
      <p:sp>
        <p:nvSpPr>
          <p:cNvPr id="19" name="Text 17"/>
          <p:cNvSpPr txBox="1"/>
          <p:nvPr/>
        </p:nvSpPr>
        <p:spPr>
          <a:xfrm>
            <a:off x="8385048" y="3127248"/>
            <a:ext cx="2798064" cy="804672"/>
          </a:xfrm>
          <a:prstGeom prst="rect">
            <a:avLst/>
          </a:prstGeom>
          <a:noFill/>
          <a:ln/>
        </p:spPr>
        <p:txBody>
          <a:bodyPr wrap="square" lIns="0" tIns="0" rIns="0" bIns="0" rtlCol="0" anchor="ctr"/>
          <a:lstStyle/>
          <a:p>
            <a:pPr algn="ctr" indent="0" marL="0">
              <a:buNone/>
            </a:pPr>
            <a:r>
              <a:rPr lang="en-US" sz="980" dirty="0">
                <a:solidFill>
                  <a:srgbClr val="27374D"/>
                </a:solidFill>
              </a:rPr>
              <a:t>정찰 1건만 통과</a:t>
            </a:r>
            <a:endParaRPr lang="en-US" sz="980" dirty="0"/>
          </a:p>
          <a:p>
            <a:pPr algn="ctr" indent="0" marL="0">
              <a:buNone/>
            </a:pPr>
            <a:r>
              <a:rPr lang="en-US" sz="980" dirty="0">
                <a:solidFill>
                  <a:srgbClr val="27374D"/>
                </a:solidFill>
              </a:rPr>
              <a:t>성공 → 닫힘 · 실패 → 다시 60초</a:t>
            </a:r>
            <a:endParaRPr lang="en-US" sz="980" dirty="0"/>
          </a:p>
        </p:txBody>
      </p:sp>
      <p:sp>
        <p:nvSpPr>
          <p:cNvPr id="20" name="Shape 18"/>
          <p:cNvSpPr/>
          <p:nvPr/>
        </p:nvSpPr>
        <p:spPr>
          <a:xfrm>
            <a:off x="3931920" y="3291840"/>
            <a:ext cx="594360" cy="0"/>
          </a:xfrm>
          <a:prstGeom prst="line">
            <a:avLst/>
          </a:prstGeom>
          <a:noFill/>
          <a:ln w="25400">
            <a:solidFill>
              <a:srgbClr val="27374D"/>
            </a:solidFill>
            <a:prstDash val="solid"/>
            <a:tailEnd type="triangle"/>
          </a:ln>
        </p:spPr>
      </p:sp>
      <p:sp>
        <p:nvSpPr>
          <p:cNvPr id="21" name="Text 19"/>
          <p:cNvSpPr txBox="1"/>
          <p:nvPr/>
        </p:nvSpPr>
        <p:spPr>
          <a:xfrm>
            <a:off x="3401568" y="4069080"/>
            <a:ext cx="1737360" cy="548640"/>
          </a:xfrm>
          <a:prstGeom prst="rect">
            <a:avLst/>
          </a:prstGeom>
          <a:noFill/>
          <a:ln/>
        </p:spPr>
        <p:txBody>
          <a:bodyPr wrap="square" lIns="0" tIns="0" rIns="0" bIns="0" rtlCol="0" anchor="ctr"/>
          <a:lstStyle/>
          <a:p>
            <a:pPr algn="ctr" indent="0" marL="0">
              <a:buNone/>
            </a:pPr>
            <a:r>
              <a:rPr lang="en-US" sz="850" dirty="0">
                <a:solidFill>
                  <a:srgbClr val="5C6B7A"/>
                </a:solidFill>
              </a:rPr>
              <a:t>1분 창 오류율 &gt; 50%</a:t>
            </a:r>
            <a:endParaRPr lang="en-US" sz="850" dirty="0"/>
          </a:p>
          <a:p>
            <a:pPr algn="ctr" indent="0" marL="0">
              <a:buNone/>
            </a:pPr>
            <a:r>
              <a:rPr lang="en-US" sz="850" dirty="0">
                <a:solidFill>
                  <a:srgbClr val="5C6B7A"/>
                </a:solidFill>
              </a:rPr>
              <a:t>(표본 10건 이상일 때만)</a:t>
            </a:r>
            <a:endParaRPr lang="en-US" sz="850" dirty="0"/>
          </a:p>
        </p:txBody>
      </p:sp>
      <p:sp>
        <p:nvSpPr>
          <p:cNvPr id="22" name="Shape 20"/>
          <p:cNvSpPr/>
          <p:nvPr/>
        </p:nvSpPr>
        <p:spPr>
          <a:xfrm>
            <a:off x="7635240" y="3291840"/>
            <a:ext cx="594360" cy="0"/>
          </a:xfrm>
          <a:prstGeom prst="line">
            <a:avLst/>
          </a:prstGeom>
          <a:noFill/>
          <a:ln w="25400">
            <a:solidFill>
              <a:srgbClr val="27374D"/>
            </a:solidFill>
            <a:prstDash val="solid"/>
            <a:tailEnd type="triangle"/>
          </a:ln>
        </p:spPr>
      </p:sp>
      <p:sp>
        <p:nvSpPr>
          <p:cNvPr id="23" name="Text 21"/>
          <p:cNvSpPr txBox="1"/>
          <p:nvPr/>
        </p:nvSpPr>
        <p:spPr>
          <a:xfrm>
            <a:off x="7498080" y="4069080"/>
            <a:ext cx="914400" cy="320040"/>
          </a:xfrm>
          <a:prstGeom prst="rect">
            <a:avLst/>
          </a:prstGeom>
          <a:noFill/>
          <a:ln/>
        </p:spPr>
        <p:txBody>
          <a:bodyPr wrap="square" lIns="0" tIns="0" rIns="0" bIns="0" rtlCol="0" anchor="ctr"/>
          <a:lstStyle/>
          <a:p>
            <a:pPr algn="ctr" indent="0" marL="0">
              <a:buNone/>
            </a:pPr>
            <a:r>
              <a:rPr lang="en-US" sz="850" dirty="0">
                <a:solidFill>
                  <a:srgbClr val="5C6B7A"/>
                </a:solidFill>
              </a:rPr>
              <a:t>60초 뒤</a:t>
            </a:r>
            <a:endParaRPr lang="en-US" sz="850" dirty="0"/>
          </a:p>
        </p:txBody>
      </p:sp>
      <p:sp>
        <p:nvSpPr>
          <p:cNvPr id="24" name="Shape 22"/>
          <p:cNvSpPr/>
          <p:nvPr/>
        </p:nvSpPr>
        <p:spPr>
          <a:xfrm>
            <a:off x="822960" y="4892040"/>
            <a:ext cx="3410712" cy="1051560"/>
          </a:xfrm>
          <a:prstGeom prst="roundRect">
            <a:avLst>
              <a:gd name="adj" fmla="val 6087"/>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25" name="Text 23"/>
          <p:cNvSpPr txBox="1"/>
          <p:nvPr/>
        </p:nvSpPr>
        <p:spPr>
          <a:xfrm>
            <a:off x="1005840" y="4992624"/>
            <a:ext cx="3063240" cy="868680"/>
          </a:xfrm>
          <a:prstGeom prst="rect">
            <a:avLst/>
          </a:prstGeom>
          <a:noFill/>
          <a:ln/>
        </p:spPr>
        <p:txBody>
          <a:bodyPr wrap="square" lIns="0" tIns="0" rIns="0" bIns="0" rtlCol="0" anchor="ctr"/>
          <a:lstStyle/>
          <a:p>
            <a:pPr indent="0" marL="0">
              <a:buNone/>
            </a:pPr>
            <a:r>
              <a:rPr lang="en-US" sz="1200" b="1" dirty="0">
                <a:solidFill>
                  <a:srgbClr val="E96A50"/>
                </a:solidFill>
              </a:rPr>
              <a:t>타임아웃
</a:t>
            </a:r>
            <a:pPr indent="0" marL="0">
              <a:buNone/>
            </a:pPr>
            <a:r>
              <a:rPr lang="en-US" sz="1000" dirty="0">
                <a:solidFill>
                  <a:srgbClr val="27374D"/>
                </a:solidFill>
              </a:rPr>
              <a:t>연결 5초 · 응답 30초 · 피부(비스트리밍) 60초</a:t>
            </a:r>
            <a:endParaRPr lang="en-US" sz="1200" dirty="0"/>
          </a:p>
        </p:txBody>
      </p:sp>
      <p:sp>
        <p:nvSpPr>
          <p:cNvPr id="26" name="Shape 24"/>
          <p:cNvSpPr/>
          <p:nvPr/>
        </p:nvSpPr>
        <p:spPr>
          <a:xfrm>
            <a:off x="4416552" y="4892040"/>
            <a:ext cx="3410712" cy="1051560"/>
          </a:xfrm>
          <a:prstGeom prst="roundRect">
            <a:avLst>
              <a:gd name="adj" fmla="val 6087"/>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27" name="Text 25"/>
          <p:cNvSpPr txBox="1"/>
          <p:nvPr/>
        </p:nvSpPr>
        <p:spPr>
          <a:xfrm>
            <a:off x="4599432" y="4992624"/>
            <a:ext cx="3063240" cy="868680"/>
          </a:xfrm>
          <a:prstGeom prst="rect">
            <a:avLst/>
          </a:prstGeom>
          <a:noFill/>
          <a:ln/>
        </p:spPr>
        <p:txBody>
          <a:bodyPr wrap="square" lIns="0" tIns="0" rIns="0" bIns="0" rtlCol="0" anchor="ctr"/>
          <a:lstStyle/>
          <a:p>
            <a:pPr indent="0" marL="0">
              <a:buNone/>
            </a:pPr>
            <a:r>
              <a:rPr lang="en-US" sz="1200" b="1" dirty="0">
                <a:solidFill>
                  <a:srgbClr val="E96A50"/>
                </a:solidFill>
              </a:rPr>
              <a:t>재시도 0회
</a:t>
            </a:r>
            <a:pPr indent="0" marL="0">
              <a:buNone/>
            </a:pPr>
            <a:r>
              <a:rPr lang="en-US" sz="1000" dirty="0">
                <a:solidFill>
                  <a:srgbClr val="27374D"/>
                </a:solidFill>
              </a:rPr>
              <a:t>장애 난 벤더에 부하를 더하지 않는다 — 의도된 설계</a:t>
            </a:r>
            <a:endParaRPr lang="en-US" sz="1200" dirty="0"/>
          </a:p>
        </p:txBody>
      </p:sp>
      <p:sp>
        <p:nvSpPr>
          <p:cNvPr id="28" name="Shape 26"/>
          <p:cNvSpPr/>
          <p:nvPr/>
        </p:nvSpPr>
        <p:spPr>
          <a:xfrm>
            <a:off x="8010144" y="4892040"/>
            <a:ext cx="3410712" cy="1051560"/>
          </a:xfrm>
          <a:prstGeom prst="roundRect">
            <a:avLst>
              <a:gd name="adj" fmla="val 6087"/>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29" name="Text 27"/>
          <p:cNvSpPr txBox="1"/>
          <p:nvPr/>
        </p:nvSpPr>
        <p:spPr>
          <a:xfrm>
            <a:off x="8193024" y="4992624"/>
            <a:ext cx="3063240" cy="868680"/>
          </a:xfrm>
          <a:prstGeom prst="rect">
            <a:avLst/>
          </a:prstGeom>
          <a:noFill/>
          <a:ln/>
        </p:spPr>
        <p:txBody>
          <a:bodyPr wrap="square" lIns="0" tIns="0" rIns="0" bIns="0" rtlCol="0" anchor="ctr"/>
          <a:lstStyle/>
          <a:p>
            <a:pPr indent="0" marL="0">
              <a:buNone/>
            </a:pPr>
            <a:r>
              <a:rPr lang="en-US" sz="1200" b="1" dirty="0">
                <a:solidFill>
                  <a:srgbClr val="E96A50"/>
                </a:solidFill>
              </a:rPr>
              <a:t>겹겹의 상한
</a:t>
            </a:r>
            <a:pPr indent="0" marL="0">
              <a:buNone/>
            </a:pPr>
            <a:r>
              <a:rPr lang="en-US" sz="1000" dirty="0">
                <a:solidFill>
                  <a:srgbClr val="27374D"/>
                </a:solidFill>
              </a:rPr>
              <a:t>사용자별·서버 전체 호출 상한 · 업로드 4MB 제한</a:t>
            </a:r>
            <a:endParaRPr lang="en-US" sz="12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품질</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실패를 안심으로 읽히지 않게</a:t>
            </a:r>
            <a:endParaRPr lang="en-US" sz="2600" dirty="0"/>
          </a:p>
        </p:txBody>
      </p:sp>
      <p:sp>
        <p:nvSpPr>
          <p:cNvPr id="4" name="Shape 2"/>
          <p:cNvSpPr/>
          <p:nvPr/>
        </p:nvSpPr>
        <p:spPr>
          <a:xfrm>
            <a:off x="822960" y="1508760"/>
            <a:ext cx="3017520" cy="2834640"/>
          </a:xfrm>
          <a:prstGeom prst="roundRect">
            <a:avLst>
              <a:gd name="adj" fmla="val 2258"/>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Text 3"/>
          <p:cNvSpPr txBox="1"/>
          <p:nvPr/>
        </p:nvSpPr>
        <p:spPr>
          <a:xfrm>
            <a:off x="1005840" y="1783080"/>
            <a:ext cx="2651760" cy="1005840"/>
          </a:xfrm>
          <a:prstGeom prst="rect">
            <a:avLst/>
          </a:prstGeom>
          <a:noFill/>
          <a:ln/>
        </p:spPr>
        <p:txBody>
          <a:bodyPr wrap="square" lIns="0" tIns="0" rIns="0" bIns="0" rtlCol="0" anchor="ctr"/>
          <a:lstStyle/>
          <a:p>
            <a:pPr indent="0" marL="0">
              <a:buNone/>
            </a:pPr>
            <a:r>
              <a:rPr lang="en-US" sz="5400" b="1" dirty="0">
                <a:solidFill>
                  <a:srgbClr val="E96A50"/>
                </a:solidFill>
              </a:rPr>
              <a:t>879</a:t>
            </a:r>
            <a:endParaRPr lang="en-US" sz="5400" dirty="0"/>
          </a:p>
        </p:txBody>
      </p:sp>
      <p:sp>
        <p:nvSpPr>
          <p:cNvPr id="6" name="Text 4"/>
          <p:cNvSpPr txBox="1"/>
          <p:nvPr/>
        </p:nvSpPr>
        <p:spPr>
          <a:xfrm>
            <a:off x="1005840" y="2880360"/>
            <a:ext cx="2651760" cy="685800"/>
          </a:xfrm>
          <a:prstGeom prst="rect">
            <a:avLst/>
          </a:prstGeom>
          <a:noFill/>
          <a:ln/>
        </p:spPr>
        <p:txBody>
          <a:bodyPr wrap="square" lIns="0" tIns="0" rIns="0" bIns="0" rtlCol="0" anchor="ctr"/>
          <a:lstStyle/>
          <a:p>
            <a:pPr indent="0" marL="0">
              <a:buNone/>
            </a:pPr>
            <a:r>
              <a:rPr lang="en-US" sz="1200" dirty="0">
                <a:solidFill>
                  <a:srgbClr val="27374D"/>
                </a:solidFill>
              </a:rPr>
              <a:t>자동 테스트</a:t>
            </a:r>
            <a:endParaRPr lang="en-US" sz="1200" dirty="0"/>
          </a:p>
          <a:p>
            <a:pPr indent="0" marL="0">
              <a:buNone/>
            </a:pPr>
            <a:r>
              <a:rPr lang="en-US" sz="1200" dirty="0">
                <a:solidFill>
                  <a:srgbClr val="27374D"/>
                </a:solidFill>
              </a:rPr>
              <a:t>Flutter 749 · 서버 130</a:t>
            </a:r>
            <a:endParaRPr lang="en-US" sz="1200" dirty="0"/>
          </a:p>
        </p:txBody>
      </p:sp>
      <p:sp>
        <p:nvSpPr>
          <p:cNvPr id="7" name="Shape 5"/>
          <p:cNvSpPr/>
          <p:nvPr/>
        </p:nvSpPr>
        <p:spPr>
          <a:xfrm>
            <a:off x="1005840" y="3703320"/>
            <a:ext cx="2331720" cy="402336"/>
          </a:xfrm>
          <a:prstGeom prst="roundRect">
            <a:avLst>
              <a:gd name="adj" fmla="val 50000"/>
            </a:avLst>
          </a:prstGeom>
          <a:solidFill>
            <a:srgbClr val="3E9B7A"/>
          </a:solidFill>
          <a:ln w="12700">
            <a:solidFill>
              <a:srgbClr val="3E9B7A"/>
            </a:solidFill>
            <a:prstDash val="solid"/>
          </a:ln>
        </p:spPr>
      </p:sp>
      <p:sp>
        <p:nvSpPr>
          <p:cNvPr id="8" name="Text 6"/>
          <p:cNvSpPr txBox="1"/>
          <p:nvPr/>
        </p:nvSpPr>
        <p:spPr>
          <a:xfrm>
            <a:off x="1005840" y="3703320"/>
            <a:ext cx="2331720" cy="402336"/>
          </a:xfrm>
          <a:prstGeom prst="rect">
            <a:avLst/>
          </a:prstGeom>
          <a:noFill/>
          <a:ln/>
        </p:spPr>
        <p:txBody>
          <a:bodyPr wrap="square" lIns="0" tIns="0" rIns="0" bIns="0" rtlCol="0" anchor="ctr"/>
          <a:lstStyle/>
          <a:p>
            <a:pPr algn="ctr" indent="0" marL="0">
              <a:buNone/>
            </a:pPr>
            <a:r>
              <a:rPr lang="en-US" sz="1050" b="1" dirty="0">
                <a:solidFill>
                  <a:srgbClr val="FFFFFF"/>
                </a:solidFill>
              </a:rPr>
              <a:t>flutter analyze 경고 0건</a:t>
            </a:r>
            <a:endParaRPr lang="en-US" sz="1050" dirty="0"/>
          </a:p>
        </p:txBody>
      </p:sp>
      <p:sp>
        <p:nvSpPr>
          <p:cNvPr id="9" name="Text 7"/>
          <p:cNvSpPr txBox="1"/>
          <p:nvPr/>
        </p:nvSpPr>
        <p:spPr>
          <a:xfrm>
            <a:off x="4114800" y="1600200"/>
            <a:ext cx="4206240" cy="23774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27374D"/>
                </a:solidFill>
              </a:rPr>
              <a:t>변이 테스트에서 착안한 습관 — 버그를 고칠 때마다 코드를 되돌려, 테스트가 정말 깨지는지 확인</a:t>
            </a:r>
            <a:endParaRPr lang="en-US" sz="1150" dirty="0"/>
          </a:p>
          <a:p>
            <a:pPr marL="127000" indent="-127000">
              <a:lnSpc>
                <a:spcPct val="112000"/>
              </a:lnSpc>
              <a:spcAft>
                <a:spcPts val="1000"/>
              </a:spcAft>
              <a:buSzPct val="100000"/>
              <a:buChar char="•"/>
            </a:pPr>
            <a:r>
              <a:rPr lang="en-US" sz="1150" dirty="0">
                <a:solidFill>
                  <a:srgbClr val="27374D"/>
                </a:solidFill>
              </a:rPr>
              <a:t>조회 '실패'와 '기록 없음'을 화면에서 구분 — 못 읽은 것을 없다고 말하지 않음</a:t>
            </a:r>
            <a:endParaRPr lang="en-US" sz="1150" dirty="0"/>
          </a:p>
          <a:p>
            <a:pPr marL="127000" indent="-127000">
              <a:lnSpc>
                <a:spcPct val="112000"/>
              </a:lnSpc>
              <a:spcAft>
                <a:spcPts val="1000"/>
              </a:spcAft>
              <a:buSzPct val="100000"/>
              <a:buChar char="•"/>
            </a:pPr>
            <a:r>
              <a:rPr lang="en-US" sz="1150" dirty="0">
                <a:solidFill>
                  <a:srgbClr val="27374D"/>
                </a:solidFill>
              </a:rPr>
              <a:t>다크 모드 · 접근성(Semantics) · 320px 소형 기기 · 큰 글씨 대응</a:t>
            </a:r>
            <a:endParaRPr lang="en-US" sz="1150" dirty="0"/>
          </a:p>
        </p:txBody>
      </p:sp>
      <p:sp>
        <p:nvSpPr>
          <p:cNvPr id="10" name="Shape 8"/>
          <p:cNvSpPr/>
          <p:nvPr/>
        </p:nvSpPr>
        <p:spPr>
          <a:xfrm>
            <a:off x="4114800" y="4069080"/>
            <a:ext cx="4206240" cy="1051560"/>
          </a:xfrm>
          <a:prstGeom prst="roundRect">
            <a:avLst>
              <a:gd name="adj" fmla="val 6087"/>
            </a:avLst>
          </a:prstGeom>
          <a:solidFill>
            <a:srgbClr val="27374D"/>
          </a:solidFill>
          <a:ln w="12700">
            <a:solidFill>
              <a:srgbClr val="27374D"/>
            </a:solidFill>
            <a:prstDash val="solid"/>
          </a:ln>
        </p:spPr>
      </p:sp>
      <p:sp>
        <p:nvSpPr>
          <p:cNvPr id="11" name="Text 9"/>
          <p:cNvSpPr txBox="1"/>
          <p:nvPr/>
        </p:nvSpPr>
        <p:spPr>
          <a:xfrm>
            <a:off x="4315968" y="4187952"/>
            <a:ext cx="3840480" cy="868680"/>
          </a:xfrm>
          <a:prstGeom prst="rect">
            <a:avLst/>
          </a:prstGeom>
          <a:noFill/>
          <a:ln/>
        </p:spPr>
        <p:txBody>
          <a:bodyPr wrap="square" lIns="0" tIns="0" rIns="0" bIns="0" rtlCol="0" anchor="ctr"/>
          <a:lstStyle/>
          <a:p>
            <a:pPr indent="0" marL="0">
              <a:buNone/>
            </a:pPr>
            <a:r>
              <a:rPr lang="en-US" sz="1200" b="1" dirty="0">
                <a:solidFill>
                  <a:srgbClr val="FFFFFF"/>
                </a:solidFill>
              </a:rPr>
              <a:t>"확인하지 못했다는 것은 괜찮다는 뜻이 아닙니다"
</a:t>
            </a:r>
            <a:pPr indent="0" marL="0">
              <a:buNone/>
            </a:pPr>
            <a:r>
              <a:rPr lang="en-US" sz="950" i="1" dirty="0">
                <a:solidFill>
                  <a:srgbClr val="DCE4EC"/>
                </a:solidFill>
              </a:rPr>
              <a:t>— 피부 판독 실패 시 실제 문구</a:t>
            </a:r>
            <a:endParaRPr lang="en-US" sz="1200" dirty="0"/>
          </a:p>
        </p:txBody>
      </p:sp>
      <p:sp>
        <p:nvSpPr>
          <p:cNvPr id="12" name="Shape 10"/>
          <p:cNvSpPr/>
          <p:nvPr/>
        </p:nvSpPr>
        <p:spPr>
          <a:xfrm>
            <a:off x="8686800" y="1600200"/>
            <a:ext cx="1371600" cy="2980944"/>
          </a:xfrm>
          <a:prstGeom prst="roundRect">
            <a:avLst>
              <a:gd name="adj" fmla="val 6667"/>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3" name="Shape 11"/>
          <p:cNvSpPr/>
          <p:nvPr/>
        </p:nvSpPr>
        <p:spPr>
          <a:xfrm>
            <a:off x="8750808" y="1664208"/>
            <a:ext cx="1243584" cy="2852928"/>
          </a:xfrm>
          <a:prstGeom prst="roundRect">
            <a:avLst>
              <a:gd name="adj" fmla="val 4412"/>
            </a:avLst>
          </a:prstGeom>
          <a:solidFill>
            <a:srgbClr val="FBF5EE"/>
          </a:solidFill>
          <a:ln w="9525">
            <a:solidFill>
              <a:srgbClr val="5C6B7A"/>
            </a:solidFill>
            <a:prstDash val="dash"/>
          </a:ln>
        </p:spPr>
      </p:sp>
      <p:sp>
        <p:nvSpPr>
          <p:cNvPr id="14" name="Text 12"/>
          <p:cNvSpPr txBox="1"/>
          <p:nvPr/>
        </p:nvSpPr>
        <p:spPr>
          <a:xfrm>
            <a:off x="8778240" y="2542032"/>
            <a:ext cx="118872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01-home.png
</a:t>
            </a:r>
            <a:pPr algn="ctr" indent="0" marL="0">
              <a:buNone/>
            </a:pPr>
            <a:r>
              <a:rPr lang="en-US" sz="850" dirty="0">
                <a:solidFill>
                  <a:srgbClr val="5C6B7A"/>
                </a:solidFill>
              </a:rPr>
              <a:t>라이트</a:t>
            </a:r>
            <a:endParaRPr lang="en-US" sz="850" dirty="0"/>
          </a:p>
        </p:txBody>
      </p:sp>
      <p:sp>
        <p:nvSpPr>
          <p:cNvPr id="15" name="Shape 13"/>
          <p:cNvSpPr/>
          <p:nvPr/>
        </p:nvSpPr>
        <p:spPr>
          <a:xfrm>
            <a:off x="10195560" y="1600200"/>
            <a:ext cx="1371600" cy="2980944"/>
          </a:xfrm>
          <a:prstGeom prst="roundRect">
            <a:avLst>
              <a:gd name="adj" fmla="val 6667"/>
            </a:avLst>
          </a:prstGeom>
          <a:solidFill>
            <a:srgbClr val="FFFFFF"/>
          </a:solidFill>
          <a:ln w="15875">
            <a:solidFill>
              <a:srgbClr val="27374D"/>
            </a:solidFill>
            <a:prstDash val="solid"/>
          </a:ln>
          <a:effectLst>
            <a:outerShdw sx="100000" sy="100000" kx="0" ky="0" algn="bl" rotWithShape="0" blurRad="101600" dist="25400" dir="5400000">
              <a:srgbClr val="27374D">
                <a:alpha val="20000"/>
              </a:srgbClr>
            </a:outerShdw>
          </a:effectLst>
        </p:spPr>
      </p:sp>
      <p:sp>
        <p:nvSpPr>
          <p:cNvPr id="16" name="Shape 14"/>
          <p:cNvSpPr/>
          <p:nvPr/>
        </p:nvSpPr>
        <p:spPr>
          <a:xfrm>
            <a:off x="10259568" y="1664208"/>
            <a:ext cx="1243584" cy="2852928"/>
          </a:xfrm>
          <a:prstGeom prst="roundRect">
            <a:avLst>
              <a:gd name="adj" fmla="val 4412"/>
            </a:avLst>
          </a:prstGeom>
          <a:solidFill>
            <a:srgbClr val="FBF5EE"/>
          </a:solidFill>
          <a:ln w="9525">
            <a:solidFill>
              <a:srgbClr val="5C6B7A"/>
            </a:solidFill>
            <a:prstDash val="dash"/>
          </a:ln>
        </p:spPr>
      </p:sp>
      <p:sp>
        <p:nvSpPr>
          <p:cNvPr id="17" name="Text 15"/>
          <p:cNvSpPr txBox="1"/>
          <p:nvPr/>
        </p:nvSpPr>
        <p:spPr>
          <a:xfrm>
            <a:off x="10287000" y="2542032"/>
            <a:ext cx="1188720" cy="1097280"/>
          </a:xfrm>
          <a:prstGeom prst="rect">
            <a:avLst/>
          </a:prstGeom>
          <a:noFill/>
          <a:ln/>
        </p:spPr>
        <p:txBody>
          <a:bodyPr wrap="square" lIns="0" tIns="0" rIns="0" bIns="0" rtlCol="0" anchor="ctr"/>
          <a:lstStyle/>
          <a:p>
            <a:pPr algn="ctr" indent="0" marL="0">
              <a:buNone/>
            </a:pPr>
            <a:r>
              <a:rPr lang="en-US" sz="850" dirty="0">
                <a:solidFill>
                  <a:srgbClr val="5C6B7A"/>
                </a:solidFill>
              </a:rPr>
              <a:t>스크린샷 자리
</a:t>
            </a:r>
            <a:pPr algn="ctr" indent="0" marL="0">
              <a:buNone/>
            </a:pPr>
            <a:r>
              <a:rPr lang="en-US" sz="950" b="1" dirty="0">
                <a:solidFill>
                  <a:srgbClr val="27374D"/>
                </a:solidFill>
              </a:rPr>
              <a:t>11-home-dark.png
</a:t>
            </a:r>
            <a:pPr algn="ctr" indent="0" marL="0">
              <a:buNone/>
            </a:pPr>
            <a:r>
              <a:rPr lang="en-US" sz="850" dirty="0">
                <a:solidFill>
                  <a:srgbClr val="5C6B7A"/>
                </a:solidFill>
              </a:rPr>
              <a:t>다크</a:t>
            </a:r>
            <a:endParaRPr lang="en-US" sz="850" dirty="0"/>
          </a:p>
        </p:txBody>
      </p:sp>
      <p:sp>
        <p:nvSpPr>
          <p:cNvPr id="18" name="Text 16"/>
          <p:cNvSpPr txBox="1"/>
          <p:nvPr/>
        </p:nvSpPr>
        <p:spPr>
          <a:xfrm>
            <a:off x="8686800" y="4709160"/>
            <a:ext cx="2880360" cy="274320"/>
          </a:xfrm>
          <a:prstGeom prst="rect">
            <a:avLst/>
          </a:prstGeom>
          <a:noFill/>
          <a:ln/>
        </p:spPr>
        <p:txBody>
          <a:bodyPr wrap="square" lIns="0" tIns="0" rIns="0" bIns="0" rtlCol="0" anchor="ctr"/>
          <a:lstStyle/>
          <a:p>
            <a:pPr algn="ctr" indent="0" marL="0">
              <a:buNone/>
            </a:pPr>
            <a:r>
              <a:rPr lang="en-US" sz="950" dirty="0">
                <a:solidFill>
                  <a:srgbClr val="5C6B7A"/>
                </a:solidFill>
              </a:rPr>
              <a:t>같은 홈 화면의 라이트 / 다크</a:t>
            </a:r>
            <a:endParaRPr lang="en-US" sz="95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841248" y="310896"/>
            <a:ext cx="9601200" cy="310896"/>
          </a:xfrm>
          <a:prstGeom prst="rect">
            <a:avLst/>
          </a:prstGeom>
          <a:noFill/>
          <a:ln/>
        </p:spPr>
        <p:txBody>
          <a:bodyPr wrap="square" lIns="0" tIns="0" rIns="0" bIns="0" rtlCol="0"/>
          <a:lstStyle/>
          <a:p>
            <a:pPr indent="0" marL="0">
              <a:buNone/>
            </a:pPr>
            <a:r>
              <a:rPr lang="en-US" sz="1200" b="1" spc="200" kern="0" dirty="0">
                <a:solidFill>
                  <a:srgbClr val="E96A50"/>
                </a:solidFill>
              </a:rPr>
              <a:t>한계와 향후</a:t>
            </a:r>
            <a:endParaRPr lang="en-US" sz="1200" dirty="0"/>
          </a:p>
        </p:txBody>
      </p:sp>
      <p:sp>
        <p:nvSpPr>
          <p:cNvPr id="3" name="Text 1"/>
          <p:cNvSpPr/>
          <p:nvPr>
            <p:ph idx="102" type="title" hasCustomPrompt="1"/>
          </p:nvPr>
        </p:nvSpPr>
        <p:spPr>
          <a:xfrm>
            <a:off x="822960" y="603504"/>
            <a:ext cx="10561320" cy="713232"/>
          </a:xfrm>
          <a:prstGeom prst="rect">
            <a:avLst/>
          </a:prstGeom>
          <a:noFill/>
          <a:ln/>
        </p:spPr>
        <p:txBody>
          <a:bodyPr wrap="square" lIns="0" tIns="0" rIns="0" bIns="0" rtlCol="0"/>
          <a:lstStyle/>
          <a:p>
            <a:pPr indent="0" marL="0">
              <a:buNone/>
            </a:pPr>
            <a:r>
              <a:rPr lang="en-US" sz="2600" b="1" dirty="0">
                <a:solidFill>
                  <a:srgbClr val="27374D"/>
                </a:solidFill>
              </a:rPr>
              <a:t>정직하게 말씀드리면</a:t>
            </a:r>
            <a:endParaRPr lang="en-US" sz="2600" dirty="0"/>
          </a:p>
        </p:txBody>
      </p:sp>
      <p:sp>
        <p:nvSpPr>
          <p:cNvPr id="4" name="Shape 2"/>
          <p:cNvSpPr/>
          <p:nvPr/>
        </p:nvSpPr>
        <p:spPr>
          <a:xfrm>
            <a:off x="822960" y="1554480"/>
            <a:ext cx="5166360" cy="1508760"/>
          </a:xfrm>
          <a:prstGeom prst="roundRect">
            <a:avLst>
              <a:gd name="adj" fmla="val 4242"/>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5" name="Text 3"/>
          <p:cNvSpPr txBox="1"/>
          <p:nvPr/>
        </p:nvSpPr>
        <p:spPr>
          <a:xfrm>
            <a:off x="1042416" y="1700784"/>
            <a:ext cx="4754880" cy="384048"/>
          </a:xfrm>
          <a:prstGeom prst="rect">
            <a:avLst/>
          </a:prstGeom>
          <a:noFill/>
          <a:ln/>
        </p:spPr>
        <p:txBody>
          <a:bodyPr wrap="square" lIns="0" tIns="0" rIns="0" bIns="0" rtlCol="0" anchor="ctr"/>
          <a:lstStyle/>
          <a:p>
            <a:pPr indent="0" marL="0">
              <a:buNone/>
            </a:pPr>
            <a:r>
              <a:rPr lang="en-US" sz="1400" b="1" dirty="0">
                <a:solidFill>
                  <a:srgbClr val="27374D"/>
                </a:solidFill>
              </a:rPr>
              <a:t>①  설문 표본 10명</a:t>
            </a:r>
            <a:endParaRPr lang="en-US" sz="1400" dirty="0"/>
          </a:p>
        </p:txBody>
      </p:sp>
      <p:sp>
        <p:nvSpPr>
          <p:cNvPr id="6" name="Text 4"/>
          <p:cNvSpPr txBox="1"/>
          <p:nvPr/>
        </p:nvSpPr>
        <p:spPr>
          <a:xfrm>
            <a:off x="1042416" y="2121408"/>
            <a:ext cx="4754880" cy="822960"/>
          </a:xfrm>
          <a:prstGeom prst="rect">
            <a:avLst/>
          </a:prstGeom>
          <a:noFill/>
          <a:ln/>
        </p:spPr>
        <p:txBody>
          <a:bodyPr wrap="square" lIns="0" tIns="0" rIns="0" bIns="0" rtlCol="0" anchor="ctr"/>
          <a:lstStyle/>
          <a:p>
            <a:pPr indent="0" marL="0">
              <a:buNone/>
            </a:pPr>
            <a:r>
              <a:rPr lang="en-US" sz="1100" dirty="0">
                <a:solidFill>
                  <a:srgbClr val="5C6B7A"/>
                </a:solidFill>
              </a:rPr>
              <a:t>통계적 일반화가 아닌 방향 확인용 — 판정 기준은 설문이 아니라 공인 지침에서</a:t>
            </a:r>
            <a:endParaRPr lang="en-US" sz="1100" dirty="0"/>
          </a:p>
        </p:txBody>
      </p:sp>
      <p:sp>
        <p:nvSpPr>
          <p:cNvPr id="7" name="Shape 5"/>
          <p:cNvSpPr/>
          <p:nvPr/>
        </p:nvSpPr>
        <p:spPr>
          <a:xfrm>
            <a:off x="6172200" y="1554480"/>
            <a:ext cx="5166360" cy="1508760"/>
          </a:xfrm>
          <a:prstGeom prst="roundRect">
            <a:avLst>
              <a:gd name="adj" fmla="val 4242"/>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8" name="Text 6"/>
          <p:cNvSpPr txBox="1"/>
          <p:nvPr/>
        </p:nvSpPr>
        <p:spPr>
          <a:xfrm>
            <a:off x="6391656" y="1700784"/>
            <a:ext cx="4754880" cy="384048"/>
          </a:xfrm>
          <a:prstGeom prst="rect">
            <a:avLst/>
          </a:prstGeom>
          <a:noFill/>
          <a:ln/>
        </p:spPr>
        <p:txBody>
          <a:bodyPr wrap="square" lIns="0" tIns="0" rIns="0" bIns="0" rtlCol="0" anchor="ctr"/>
          <a:lstStyle/>
          <a:p>
            <a:pPr indent="0" marL="0">
              <a:buNone/>
            </a:pPr>
            <a:r>
              <a:rPr lang="en-US" sz="1400" b="1" dirty="0">
                <a:solidFill>
                  <a:srgbClr val="27374D"/>
                </a:solidFill>
              </a:rPr>
              <a:t>②  판정 범위 3종</a:t>
            </a:r>
            <a:endParaRPr lang="en-US" sz="1400" dirty="0"/>
          </a:p>
        </p:txBody>
      </p:sp>
      <p:sp>
        <p:nvSpPr>
          <p:cNvPr id="9" name="Text 7"/>
          <p:cNvSpPr txBox="1"/>
          <p:nvPr/>
        </p:nvSpPr>
        <p:spPr>
          <a:xfrm>
            <a:off x="6391656" y="2121408"/>
            <a:ext cx="4754880" cy="822960"/>
          </a:xfrm>
          <a:prstGeom prst="rect">
            <a:avLst/>
          </a:prstGeom>
          <a:noFill/>
          <a:ln/>
        </p:spPr>
        <p:txBody>
          <a:bodyPr wrap="square" lIns="0" tIns="0" rIns="0" bIns="0" rtlCol="0" anchor="ctr"/>
          <a:lstStyle/>
          <a:p>
            <a:pPr indent="0" marL="0">
              <a:buNone/>
            </a:pPr>
            <a:r>
              <a:rPr lang="en-US" sz="1100" dirty="0">
                <a:solidFill>
                  <a:srgbClr val="5C6B7A"/>
                </a:solidFill>
              </a:rPr>
              <a:t>체온·성장·소음만 — 수유·수면·배변은 공인 기준 부재로 판정 없이 기록·집계</a:t>
            </a:r>
            <a:endParaRPr lang="en-US" sz="1100" dirty="0"/>
          </a:p>
        </p:txBody>
      </p:sp>
      <p:sp>
        <p:nvSpPr>
          <p:cNvPr id="10" name="Shape 8"/>
          <p:cNvSpPr/>
          <p:nvPr/>
        </p:nvSpPr>
        <p:spPr>
          <a:xfrm>
            <a:off x="822960" y="3246120"/>
            <a:ext cx="5166360" cy="1508760"/>
          </a:xfrm>
          <a:prstGeom prst="roundRect">
            <a:avLst>
              <a:gd name="adj" fmla="val 4242"/>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1" name="Text 9"/>
          <p:cNvSpPr txBox="1"/>
          <p:nvPr/>
        </p:nvSpPr>
        <p:spPr>
          <a:xfrm>
            <a:off x="1042416" y="3392424"/>
            <a:ext cx="4754880" cy="384048"/>
          </a:xfrm>
          <a:prstGeom prst="rect">
            <a:avLst/>
          </a:prstGeom>
          <a:noFill/>
          <a:ln/>
        </p:spPr>
        <p:txBody>
          <a:bodyPr wrap="square" lIns="0" tIns="0" rIns="0" bIns="0" rtlCol="0" anchor="ctr"/>
          <a:lstStyle/>
          <a:p>
            <a:pPr indent="0" marL="0">
              <a:buNone/>
            </a:pPr>
            <a:r>
              <a:rPr lang="en-US" sz="1400" b="1" dirty="0">
                <a:solidFill>
                  <a:srgbClr val="27374D"/>
                </a:solidFill>
              </a:rPr>
              <a:t>③  임상 검증 아님</a:t>
            </a:r>
            <a:endParaRPr lang="en-US" sz="1400" dirty="0"/>
          </a:p>
        </p:txBody>
      </p:sp>
      <p:sp>
        <p:nvSpPr>
          <p:cNvPr id="12" name="Text 10"/>
          <p:cNvSpPr txBox="1"/>
          <p:nvPr/>
        </p:nvSpPr>
        <p:spPr>
          <a:xfrm>
            <a:off x="1042416" y="3813048"/>
            <a:ext cx="4754880" cy="822960"/>
          </a:xfrm>
          <a:prstGeom prst="rect">
            <a:avLst/>
          </a:prstGeom>
          <a:noFill/>
          <a:ln/>
        </p:spPr>
        <p:txBody>
          <a:bodyPr wrap="square" lIns="0" tIns="0" rIns="0" bIns="0" rtlCol="0" anchor="ctr"/>
          <a:lstStyle/>
          <a:p>
            <a:pPr indent="0" marL="0">
              <a:buNone/>
            </a:pPr>
            <a:r>
              <a:rPr lang="en-US" sz="1100" dirty="0">
                <a:solidFill>
                  <a:srgbClr val="5C6B7A"/>
                </a:solidFill>
              </a:rPr>
              <a:t>의료 전문가 직접 감수 대신 공인 지침(대한소아과학회·WHO) 인용으로 갈음</a:t>
            </a:r>
            <a:endParaRPr lang="en-US" sz="1100" dirty="0"/>
          </a:p>
        </p:txBody>
      </p:sp>
      <p:sp>
        <p:nvSpPr>
          <p:cNvPr id="13" name="Shape 11"/>
          <p:cNvSpPr/>
          <p:nvPr/>
        </p:nvSpPr>
        <p:spPr>
          <a:xfrm>
            <a:off x="6172200" y="3246120"/>
            <a:ext cx="5166360" cy="1508760"/>
          </a:xfrm>
          <a:prstGeom prst="roundRect">
            <a:avLst>
              <a:gd name="adj" fmla="val 4242"/>
            </a:avLst>
          </a:prstGeom>
          <a:solidFill>
            <a:srgbClr val="FFFFFF"/>
          </a:solidFill>
          <a:ln w="9525">
            <a:solidFill>
              <a:srgbClr val="E3D7C8"/>
            </a:solidFill>
            <a:prstDash val="solid"/>
          </a:ln>
          <a:effectLst>
            <a:outerShdw sx="100000" sy="100000" kx="0" ky="0" algn="bl" rotWithShape="0" blurRad="76200" dist="19050" dir="5400000">
              <a:srgbClr val="27374D">
                <a:alpha val="12000"/>
              </a:srgbClr>
            </a:outerShdw>
          </a:effectLst>
        </p:spPr>
      </p:sp>
      <p:sp>
        <p:nvSpPr>
          <p:cNvPr id="14" name="Text 12"/>
          <p:cNvSpPr txBox="1"/>
          <p:nvPr/>
        </p:nvSpPr>
        <p:spPr>
          <a:xfrm>
            <a:off x="6391656" y="3392424"/>
            <a:ext cx="4754880" cy="384048"/>
          </a:xfrm>
          <a:prstGeom prst="rect">
            <a:avLst/>
          </a:prstGeom>
          <a:noFill/>
          <a:ln/>
        </p:spPr>
        <p:txBody>
          <a:bodyPr wrap="square" lIns="0" tIns="0" rIns="0" bIns="0" rtlCol="0" anchor="ctr"/>
          <a:lstStyle/>
          <a:p>
            <a:pPr indent="0" marL="0">
              <a:buNone/>
            </a:pPr>
            <a:r>
              <a:rPr lang="en-US" sz="1400" b="1" dirty="0">
                <a:solidFill>
                  <a:srgbClr val="27374D"/>
                </a:solidFill>
              </a:rPr>
              <a:t>④  단일 서버</a:t>
            </a:r>
            <a:endParaRPr lang="en-US" sz="1400" dirty="0"/>
          </a:p>
        </p:txBody>
      </p:sp>
      <p:sp>
        <p:nvSpPr>
          <p:cNvPr id="15" name="Text 13"/>
          <p:cNvSpPr txBox="1"/>
          <p:nvPr/>
        </p:nvSpPr>
        <p:spPr>
          <a:xfrm>
            <a:off x="6391656" y="3813048"/>
            <a:ext cx="4754880" cy="822960"/>
          </a:xfrm>
          <a:prstGeom prst="rect">
            <a:avLst/>
          </a:prstGeom>
          <a:noFill/>
          <a:ln/>
        </p:spPr>
        <p:txBody>
          <a:bodyPr wrap="square" lIns="0" tIns="0" rIns="0" bIns="0" rtlCol="0" anchor="ctr"/>
          <a:lstStyle/>
          <a:p>
            <a:pPr indent="0" marL="0">
              <a:buNone/>
            </a:pPr>
            <a:r>
              <a:rPr lang="en-US" sz="1100" dirty="0">
                <a:solidFill>
                  <a:srgbClr val="5C6B7A"/>
                </a:solidFill>
              </a:rPr>
              <a:t>수평 확장에는 호출 상한·서킷 브레이커 상태를 공유할 저장소(예: Redis) 필요</a:t>
            </a:r>
            <a:endParaRPr lang="en-US" sz="1100" dirty="0"/>
          </a:p>
        </p:txBody>
      </p:sp>
      <p:sp>
        <p:nvSpPr>
          <p:cNvPr id="16" name="Shape 14"/>
          <p:cNvSpPr/>
          <p:nvPr/>
        </p:nvSpPr>
        <p:spPr>
          <a:xfrm>
            <a:off x="822960" y="5166360"/>
            <a:ext cx="10561320" cy="868680"/>
          </a:xfrm>
          <a:prstGeom prst="roundRect">
            <a:avLst>
              <a:gd name="adj" fmla="val 7368"/>
            </a:avLst>
          </a:prstGeom>
          <a:solidFill>
            <a:srgbClr val="FAE3DC"/>
          </a:solidFill>
          <a:ln w="12700">
            <a:solidFill>
              <a:srgbClr val="FAE3DC"/>
            </a:solidFill>
            <a:prstDash val="solid"/>
          </a:ln>
        </p:spPr>
      </p:sp>
      <p:sp>
        <p:nvSpPr>
          <p:cNvPr id="17" name="Text 15"/>
          <p:cNvSpPr txBox="1"/>
          <p:nvPr/>
        </p:nvSpPr>
        <p:spPr>
          <a:xfrm>
            <a:off x="1051560" y="5166360"/>
            <a:ext cx="10058400" cy="868680"/>
          </a:xfrm>
          <a:prstGeom prst="rect">
            <a:avLst/>
          </a:prstGeom>
          <a:noFill/>
          <a:ln/>
        </p:spPr>
        <p:txBody>
          <a:bodyPr wrap="square" lIns="0" tIns="0" rIns="0" bIns="0" rtlCol="0" anchor="ctr"/>
          <a:lstStyle/>
          <a:p>
            <a:pPr indent="0" marL="0">
              <a:buNone/>
            </a:pPr>
            <a:r>
              <a:rPr lang="en-US" sz="1300" b="1" dirty="0">
                <a:solidFill>
                  <a:srgbClr val="E96A50"/>
                </a:solidFill>
              </a:rPr>
              <a:t>다음 과제  </a:t>
            </a:r>
            <a:pPr indent="0" marL="0">
              <a:buNone/>
            </a:pPr>
            <a:r>
              <a:rPr lang="en-US" sz="1300" b="1" dirty="0">
                <a:solidFill>
                  <a:srgbClr val="27374D"/>
                </a:solidFill>
              </a:rPr>
              <a:t>판정 범위 확대  →  의료 전문가 감수  →  실사용자 사용성 평가</a:t>
            </a:r>
            <a:endParaRPr lang="en-US" sz="1300" dirty="0"/>
          </a:p>
        </p:txBody>
      </p:sp>
      <p:sp>
        <p:nvSpPr>
          <p:cNvPr id="25" name="Slide Number Placeholder 0"/>
          <p:cNvSpPr>
            <a:spLocks noGrp="1"/>
          </p:cNvSpPr>
          <p:nvPr>
            <p:ph type="sldNum" sz="quarter" idx="4294967295"/>
          </p:nvPr>
        </p:nvSpPr>
        <p:spPr>
          <a:xfrm>
            <a:off x="11430000" y="6455664"/>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7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692640" y="3566160"/>
            <a:ext cx="4389120" cy="4389120"/>
          </a:xfrm>
          <a:prstGeom prst="ellipse">
            <a:avLst/>
          </a:prstGeom>
          <a:solidFill>
            <a:srgbClr val="E96A50">
              <a:alpha val="16000"/>
            </a:srgbClr>
          </a:solidFill>
          <a:ln w="12700">
            <a:solidFill>
              <a:srgbClr val="E96A50"/>
            </a:solidFill>
            <a:prstDash val="solid"/>
          </a:ln>
        </p:spPr>
      </p:sp>
      <p:sp>
        <p:nvSpPr>
          <p:cNvPr id="3" name="Shape 1"/>
          <p:cNvSpPr/>
          <p:nvPr/>
        </p:nvSpPr>
        <p:spPr>
          <a:xfrm>
            <a:off x="-1463040" y="-1645920"/>
            <a:ext cx="4023360" cy="4023360"/>
          </a:xfrm>
          <a:prstGeom prst="ellipse">
            <a:avLst/>
          </a:prstGeom>
          <a:solidFill>
            <a:srgbClr val="8FAE9B">
              <a:alpha val="18000"/>
            </a:srgbClr>
          </a:solidFill>
          <a:ln w="12700">
            <a:solidFill>
              <a:srgbClr val="8FAE9B"/>
            </a:solidFill>
            <a:prstDash val="solid"/>
          </a:ln>
        </p:spPr>
      </p:sp>
      <p:sp>
        <p:nvSpPr>
          <p:cNvPr id="4" name="Text 2"/>
          <p:cNvSpPr txBox="1"/>
          <p:nvPr/>
        </p:nvSpPr>
        <p:spPr>
          <a:xfrm>
            <a:off x="868680" y="1234440"/>
            <a:ext cx="5486400" cy="411480"/>
          </a:xfrm>
          <a:prstGeom prst="rect">
            <a:avLst/>
          </a:prstGeom>
          <a:noFill/>
          <a:ln/>
        </p:spPr>
        <p:txBody>
          <a:bodyPr wrap="square" lIns="0" tIns="0" rIns="0" bIns="0" rtlCol="0" anchor="ctr"/>
          <a:lstStyle/>
          <a:p>
            <a:pPr indent="0" marL="0">
              <a:buNone/>
            </a:pPr>
            <a:r>
              <a:rPr lang="en-US" sz="1600" b="1" dirty="0">
                <a:solidFill>
                  <a:srgbClr val="FFB3A0"/>
                </a:solidFill>
              </a:rPr>
              <a:t>BabySense</a:t>
            </a:r>
            <a:endParaRPr lang="en-US" sz="1600" dirty="0"/>
          </a:p>
        </p:txBody>
      </p:sp>
      <p:sp>
        <p:nvSpPr>
          <p:cNvPr id="5" name="Text 3"/>
          <p:cNvSpPr txBox="1"/>
          <p:nvPr/>
        </p:nvSpPr>
        <p:spPr>
          <a:xfrm>
            <a:off x="822960" y="1645920"/>
            <a:ext cx="10515600" cy="777240"/>
          </a:xfrm>
          <a:prstGeom prst="rect">
            <a:avLst/>
          </a:prstGeom>
          <a:noFill/>
          <a:ln/>
        </p:spPr>
        <p:txBody>
          <a:bodyPr wrap="square" lIns="0" tIns="0" rIns="0" bIns="0" rtlCol="0" anchor="ctr"/>
          <a:lstStyle/>
          <a:p>
            <a:pPr indent="0" marL="0">
              <a:buNone/>
            </a:pPr>
            <a:r>
              <a:rPr lang="en-US" sz="3200" b="1" dirty="0">
                <a:solidFill>
                  <a:srgbClr val="FFFFFF"/>
                </a:solidFill>
              </a:rPr>
              <a:t>기록이 아니라, 해석과 행동을 돕습니다</a:t>
            </a:r>
            <a:endParaRPr lang="en-US" sz="3200" dirty="0"/>
          </a:p>
        </p:txBody>
      </p:sp>
      <p:sp>
        <p:nvSpPr>
          <p:cNvPr id="6" name="Shape 4"/>
          <p:cNvSpPr/>
          <p:nvPr/>
        </p:nvSpPr>
        <p:spPr>
          <a:xfrm>
            <a:off x="896112" y="2834640"/>
            <a:ext cx="329184" cy="329184"/>
          </a:xfrm>
          <a:prstGeom prst="ellipse">
            <a:avLst/>
          </a:prstGeom>
          <a:solidFill>
            <a:srgbClr val="3E9B7A"/>
          </a:solidFill>
          <a:ln w="12700">
            <a:solidFill>
              <a:srgbClr val="3E9B7A"/>
            </a:solidFill>
            <a:prstDash val="solid"/>
          </a:ln>
        </p:spPr>
      </p:sp>
      <p:sp>
        <p:nvSpPr>
          <p:cNvPr id="7" name="Text 5"/>
          <p:cNvSpPr txBox="1"/>
          <p:nvPr/>
        </p:nvSpPr>
        <p:spPr>
          <a:xfrm>
            <a:off x="896112" y="28346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8" name="Text 6"/>
          <p:cNvSpPr txBox="1"/>
          <p:nvPr/>
        </p:nvSpPr>
        <p:spPr>
          <a:xfrm>
            <a:off x="1371600" y="2788920"/>
            <a:ext cx="8229600" cy="457200"/>
          </a:xfrm>
          <a:prstGeom prst="rect">
            <a:avLst/>
          </a:prstGeom>
          <a:noFill/>
          <a:ln/>
        </p:spPr>
        <p:txBody>
          <a:bodyPr wrap="square" lIns="0" tIns="0" rIns="0" bIns="0" rtlCol="0" anchor="ctr"/>
          <a:lstStyle/>
          <a:p>
            <a:pPr indent="0" marL="0">
              <a:buNone/>
            </a:pPr>
            <a:r>
              <a:rPr lang="en-US" sz="1600" dirty="0">
                <a:solidFill>
                  <a:srgbClr val="DCE4EC"/>
                </a:solidFill>
              </a:rPr>
              <a:t>판정은 추적 가능한 규칙이 합니다</a:t>
            </a:r>
            <a:endParaRPr lang="en-US" sz="1600" dirty="0"/>
          </a:p>
        </p:txBody>
      </p:sp>
      <p:sp>
        <p:nvSpPr>
          <p:cNvPr id="9" name="Shape 7"/>
          <p:cNvSpPr/>
          <p:nvPr/>
        </p:nvSpPr>
        <p:spPr>
          <a:xfrm>
            <a:off x="896112" y="3456432"/>
            <a:ext cx="329184" cy="329184"/>
          </a:xfrm>
          <a:prstGeom prst="ellipse">
            <a:avLst/>
          </a:prstGeom>
          <a:solidFill>
            <a:srgbClr val="3E9B7A"/>
          </a:solidFill>
          <a:ln w="12700">
            <a:solidFill>
              <a:srgbClr val="3E9B7A"/>
            </a:solidFill>
            <a:prstDash val="solid"/>
          </a:ln>
        </p:spPr>
      </p:sp>
      <p:sp>
        <p:nvSpPr>
          <p:cNvPr id="10" name="Text 8"/>
          <p:cNvSpPr txBox="1"/>
          <p:nvPr/>
        </p:nvSpPr>
        <p:spPr>
          <a:xfrm>
            <a:off x="896112" y="34564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1" name="Text 9"/>
          <p:cNvSpPr txBox="1"/>
          <p:nvPr/>
        </p:nvSpPr>
        <p:spPr>
          <a:xfrm>
            <a:off x="1371600" y="3410712"/>
            <a:ext cx="8229600" cy="457200"/>
          </a:xfrm>
          <a:prstGeom prst="rect">
            <a:avLst/>
          </a:prstGeom>
          <a:noFill/>
          <a:ln/>
        </p:spPr>
        <p:txBody>
          <a:bodyPr wrap="square" lIns="0" tIns="0" rIns="0" bIns="0" rtlCol="0" anchor="ctr"/>
          <a:lstStyle/>
          <a:p>
            <a:pPr indent="0" marL="0">
              <a:buNone/>
            </a:pPr>
            <a:r>
              <a:rPr lang="en-US" sz="1600" dirty="0">
                <a:solidFill>
                  <a:srgbClr val="DCE4EC"/>
                </a:solidFill>
              </a:rPr>
              <a:t>AI는 설명만 합니다</a:t>
            </a:r>
            <a:endParaRPr lang="en-US" sz="1600" dirty="0"/>
          </a:p>
        </p:txBody>
      </p:sp>
      <p:sp>
        <p:nvSpPr>
          <p:cNvPr id="12" name="Shape 10"/>
          <p:cNvSpPr/>
          <p:nvPr/>
        </p:nvSpPr>
        <p:spPr>
          <a:xfrm>
            <a:off x="896112" y="4078224"/>
            <a:ext cx="329184" cy="329184"/>
          </a:xfrm>
          <a:prstGeom prst="ellipse">
            <a:avLst/>
          </a:prstGeom>
          <a:solidFill>
            <a:srgbClr val="3E9B7A"/>
          </a:solidFill>
          <a:ln w="12700">
            <a:solidFill>
              <a:srgbClr val="3E9B7A"/>
            </a:solidFill>
            <a:prstDash val="solid"/>
          </a:ln>
        </p:spPr>
      </p:sp>
      <p:sp>
        <p:nvSpPr>
          <p:cNvPr id="13" name="Text 11"/>
          <p:cNvSpPr txBox="1"/>
          <p:nvPr/>
        </p:nvSpPr>
        <p:spPr>
          <a:xfrm>
            <a:off x="896112" y="40782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4" name="Text 12"/>
          <p:cNvSpPr txBox="1"/>
          <p:nvPr/>
        </p:nvSpPr>
        <p:spPr>
          <a:xfrm>
            <a:off x="1371600" y="4032504"/>
            <a:ext cx="8229600" cy="457200"/>
          </a:xfrm>
          <a:prstGeom prst="rect">
            <a:avLst/>
          </a:prstGeom>
          <a:noFill/>
          <a:ln/>
        </p:spPr>
        <p:txBody>
          <a:bodyPr wrap="square" lIns="0" tIns="0" rIns="0" bIns="0" rtlCol="0" anchor="ctr"/>
          <a:lstStyle/>
          <a:p>
            <a:pPr indent="0" marL="0">
              <a:buNone/>
            </a:pPr>
            <a:r>
              <a:rPr lang="en-US" sz="1600" dirty="0">
                <a:solidFill>
                  <a:srgbClr val="DCE4EC"/>
                </a:solidFill>
              </a:rPr>
              <a:t>모르면, 모른다고 말합니다</a:t>
            </a:r>
            <a:endParaRPr lang="en-US" sz="1600" dirty="0"/>
          </a:p>
        </p:txBody>
      </p:sp>
      <p:sp>
        <p:nvSpPr>
          <p:cNvPr id="15" name="Text 13"/>
          <p:cNvSpPr txBox="1"/>
          <p:nvPr/>
        </p:nvSpPr>
        <p:spPr>
          <a:xfrm>
            <a:off x="868680" y="5029200"/>
            <a:ext cx="10424160" cy="365760"/>
          </a:xfrm>
          <a:prstGeom prst="rect">
            <a:avLst/>
          </a:prstGeom>
          <a:noFill/>
          <a:ln/>
        </p:spPr>
        <p:txBody>
          <a:bodyPr wrap="square" lIns="0" tIns="0" rIns="0" bIns="0" rtlCol="0" anchor="ctr"/>
          <a:lstStyle/>
          <a:p>
            <a:pPr indent="0" marL="0">
              <a:buNone/>
            </a:pPr>
            <a:r>
              <a:rPr lang="en-US" sz="1250" dirty="0">
                <a:solidFill>
                  <a:srgbClr val="DCE4EC"/>
                </a:solidFill>
              </a:rPr>
              <a:t>iOS · Android 실기기 동작  ·  EC2 실배포  ·  한국디지털콘텐츠학회(JDCS) 논문 투고 준비</a:t>
            </a:r>
            <a:endParaRPr lang="en-US" sz="1250" dirty="0"/>
          </a:p>
        </p:txBody>
      </p:sp>
      <p:sp>
        <p:nvSpPr>
          <p:cNvPr id="16" name="Text 14"/>
          <p:cNvSpPr txBox="1"/>
          <p:nvPr/>
        </p:nvSpPr>
        <p:spPr>
          <a:xfrm>
            <a:off x="868680" y="5623560"/>
            <a:ext cx="8229600" cy="457200"/>
          </a:xfrm>
          <a:prstGeom prst="rect">
            <a:avLst/>
          </a:prstGeom>
          <a:noFill/>
          <a:ln/>
        </p:spPr>
        <p:txBody>
          <a:bodyPr wrap="square" lIns="0" tIns="0" rIns="0" bIns="0" rtlCol="0" anchor="ctr"/>
          <a:lstStyle/>
          <a:p>
            <a:pPr indent="0" marL="0">
              <a:buNone/>
            </a:pPr>
            <a:r>
              <a:rPr lang="en-US" sz="1900" b="1" dirty="0">
                <a:solidFill>
                  <a:srgbClr val="FFB3A0"/>
                </a:solidFill>
              </a:rPr>
              <a:t>감사합니다 — 질문 받겠습니다</a:t>
            </a:r>
            <a:endParaRPr lang="en-US" sz="1900" dirty="0"/>
          </a:p>
        </p:txBody>
      </p:sp>
    </p:spTree>
  </p:cSld>
  <p:clrMapOvr>
    <a:masterClrMapping/>
  </p:clrMapOvr>
</p:sld>
</file>

<file path=ppt/theme/theme1.xml><?xml version="1.0" encoding="utf-8"?>
<a:theme xmlns:a="http://schemas.openxmlformats.org/drawingml/2006/main" name="BabySense Warm">
  <a:themeElements>
    <a:clrScheme name="BabySense Warm">
      <a:dk1>
        <a:srgbClr val="27374D"/>
      </a:dk1>
      <a:lt1>
        <a:srgbClr val="FFFFFF"/>
      </a:lt1>
      <a:dk2>
        <a:srgbClr val="5C6B7A"/>
      </a:dk2>
      <a:lt2>
        <a:srgbClr val="FBF5EE"/>
      </a:lt2>
      <a:accent1>
        <a:srgbClr val="E96A50"/>
      </a:accent1>
      <a:accent2>
        <a:srgbClr val="3E9B7A"/>
      </a:accent2>
      <a:accent3>
        <a:srgbClr val="E09F3E"/>
      </a:accent3>
      <a:accent4>
        <a:srgbClr val="C64848"/>
      </a:accent4>
      <a:accent5>
        <a:srgbClr val="5B87A8"/>
      </a:accent5>
      <a:accent6>
        <a:srgbClr val="8FAE9B"/>
      </a:accent6>
      <a:hlink>
        <a:srgbClr val="27374D"/>
      </a:hlink>
      <a:folHlink>
        <a:srgbClr val="5C6B7A"/>
      </a:folHlink>
    </a:clrScheme>
    <a:fontScheme name="BabySense Warm">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BabySense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BabySense 졸업발표</dc:title>
  <dc:subject>2026 동양미래대학교 졸업작품 발표</dc:subject>
  <dc:creator>BabySense 팀</dc:creator>
  <cp:lastModifiedBy>BabySense 팀</cp:lastModifiedBy>
  <cp:revision>1</cp:revision>
  <dcterms:created xsi:type="dcterms:W3CDTF">2026-10-19T07:54:48Z</dcterms:created>
  <dcterms:modified xsi:type="dcterms:W3CDTF">2026-10-19T07:54:48Z</dcterms:modified>
</cp:coreProperties>
</file>